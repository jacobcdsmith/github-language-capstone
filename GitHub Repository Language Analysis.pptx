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324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7147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BC8C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 Language Dominance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28625" y="2294539"/>
            <a:ext cx="37147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Comprehensive Analysis of 1,200 Repositories Across 12 Programming Languages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28625" y="3351814"/>
            <a:ext cx="37147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Capstone Project - Data-Driven Insights into Programming Language Ecosystem Health, Popularity, and Activity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428625" y="4573395"/>
            <a:ext cx="3714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Analysis Capstone Project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28625" y="4805567"/>
            <a:ext cx="3714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 Repository Ecosystem Study</a:t>
            </a:r>
            <a:endParaRPr lang="en-US" sz="837" dirty="0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4572000" cy="553244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Shape 6"/>
          <p:cNvSpPr/>
          <p:nvPr/>
        </p:nvSpPr>
        <p:spPr>
          <a:xfrm>
            <a:off x="5072063" y="1542855"/>
            <a:ext cx="1678781" cy="1116211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86375" y="1757167"/>
            <a:ext cx="125015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1,200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5286375" y="2294734"/>
            <a:ext cx="12501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spc="1" kern="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Repositories</a:t>
            </a:r>
            <a:endParaRPr lang="en-US" sz="732" dirty="0"/>
          </a:p>
        </p:txBody>
      </p:sp>
      <p:sp>
        <p:nvSpPr>
          <p:cNvPr id="12" name="Shape 9"/>
          <p:cNvSpPr/>
          <p:nvPr/>
        </p:nvSpPr>
        <p:spPr>
          <a:xfrm>
            <a:off x="6965156" y="1542855"/>
            <a:ext cx="1678781" cy="1116211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79469" y="1764311"/>
            <a:ext cx="125015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7179469" y="2301878"/>
            <a:ext cx="12501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spc="1" kern="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Languages</a:t>
            </a:r>
            <a:endParaRPr lang="en-US" sz="732" dirty="0"/>
          </a:p>
        </p:txBody>
      </p:sp>
      <p:sp>
        <p:nvSpPr>
          <p:cNvPr id="15" name="Shape 12"/>
          <p:cNvSpPr/>
          <p:nvPr/>
        </p:nvSpPr>
        <p:spPr>
          <a:xfrm>
            <a:off x="5072063" y="2866234"/>
            <a:ext cx="1678781" cy="1116211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86375" y="3080547"/>
            <a:ext cx="125015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43.4M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5286375" y="3618114"/>
            <a:ext cx="12501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spc="1" kern="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Stars</a:t>
            </a:r>
            <a:endParaRPr lang="en-US" sz="732" dirty="0"/>
          </a:p>
        </p:txBody>
      </p:sp>
      <p:sp>
        <p:nvSpPr>
          <p:cNvPr id="18" name="Shape 15"/>
          <p:cNvSpPr/>
          <p:nvPr/>
        </p:nvSpPr>
        <p:spPr>
          <a:xfrm>
            <a:off x="6965156" y="2866234"/>
            <a:ext cx="1678781" cy="1116211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79469" y="3087691"/>
            <a:ext cx="125015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6.8M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7179469" y="3625258"/>
            <a:ext cx="12501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spc="1" kern="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Forks</a:t>
            </a:r>
            <a:endParaRPr lang="en-US" sz="732" dirty="0"/>
          </a:p>
        </p:txBody>
      </p:sp>
      <p:sp>
        <p:nvSpPr>
          <p:cNvPr id="21" name="Shape 18"/>
          <p:cNvSpPr/>
          <p:nvPr/>
        </p:nvSpPr>
        <p:spPr>
          <a:xfrm>
            <a:off x="9115425" y="0"/>
            <a:ext cx="28575" cy="5532444"/>
          </a:xfrm>
          <a:prstGeom prst="rect">
            <a:avLst/>
          </a:prstGeom>
          <a:solidFill>
            <a:srgbClr val="BC8C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746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Overview and Research Questions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885825"/>
            <a:ext cx="8286750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Understanding Programming Language Ecosystems Through GitHub Repository Analysis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28625" y="1523042"/>
            <a:ext cx="57150" cy="5715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6" name="Text 3"/>
          <p:cNvSpPr/>
          <p:nvPr/>
        </p:nvSpPr>
        <p:spPr>
          <a:xfrm>
            <a:off x="600075" y="1480179"/>
            <a:ext cx="57800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Analyzed 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1178077" y="1480179"/>
            <a:ext cx="11331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1,200 repositories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2311198" y="1480179"/>
            <a:ext cx="1769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(100 per language) across 12 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600075" y="1685897"/>
            <a:ext cx="34601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major programming languages to understand ecosystem 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00075" y="1891615"/>
            <a:ext cx="20902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health and developer engagement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28625" y="2340220"/>
            <a:ext cx="57150" cy="5715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2" name="Text 9"/>
          <p:cNvSpPr/>
          <p:nvPr/>
        </p:nvSpPr>
        <p:spPr>
          <a:xfrm>
            <a:off x="600075" y="2297357"/>
            <a:ext cx="6295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Examined 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1229646" y="2297357"/>
            <a:ext cx="10910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43.4 million stars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2320714" y="2297357"/>
            <a:ext cx="2975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2618268" y="2297357"/>
            <a:ext cx="10292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6.8 million forks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3647498" y="2297357"/>
            <a:ext cx="7200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measure 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00075" y="2503075"/>
            <a:ext cx="29253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community popularity and contribution patterns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28625" y="2951680"/>
            <a:ext cx="57150" cy="5715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9" name="Text 16"/>
          <p:cNvSpPr/>
          <p:nvPr/>
        </p:nvSpPr>
        <p:spPr>
          <a:xfrm>
            <a:off x="600075" y="2908818"/>
            <a:ext cx="33123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Evaluated repositories across three critical dimensions: 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600075" y="3114535"/>
            <a:ext cx="1533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Popularity (40% weight)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2133749" y="3114535"/>
            <a:ext cx="679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2201670" y="3114535"/>
            <a:ext cx="135519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(35% weight)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3556862" y="3114535"/>
            <a:ext cx="3320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and 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600075" y="3114535"/>
            <a:ext cx="3720359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Health (25% weight)</a:t>
            </a:r>
            <a:endParaRPr lang="en-US" sz="942" dirty="0"/>
          </a:p>
        </p:txBody>
      </p:sp>
      <p:sp>
        <p:nvSpPr>
          <p:cNvPr id="25" name="Shape 22"/>
          <p:cNvSpPr/>
          <p:nvPr/>
        </p:nvSpPr>
        <p:spPr>
          <a:xfrm>
            <a:off x="428625" y="3768858"/>
            <a:ext cx="57150" cy="5715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6" name="Text 23"/>
          <p:cNvSpPr/>
          <p:nvPr/>
        </p:nvSpPr>
        <p:spPr>
          <a:xfrm>
            <a:off x="600075" y="3711708"/>
            <a:ext cx="379333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 questions focused on identifying which languages demonstrate the strongest community engagement and what factors drive repository success</a:t>
            </a:r>
            <a:endParaRPr lang="en-US" sz="942" dirty="0"/>
          </a:p>
        </p:txBody>
      </p:sp>
      <p:sp>
        <p:nvSpPr>
          <p:cNvPr id="27" name="Shape 24"/>
          <p:cNvSpPr/>
          <p:nvPr/>
        </p:nvSpPr>
        <p:spPr>
          <a:xfrm>
            <a:off x="428625" y="4586036"/>
            <a:ext cx="57150" cy="5715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8" name="Text 25"/>
          <p:cNvSpPr/>
          <p:nvPr/>
        </p:nvSpPr>
        <p:spPr>
          <a:xfrm>
            <a:off x="600075" y="4543174"/>
            <a:ext cx="14696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Methodology employed 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2069706" y="4543174"/>
            <a:ext cx="20440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normalized scoring (0-100 scale)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4113740" y="4543174"/>
            <a:ext cx="1576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600075" y="4748892"/>
            <a:ext cx="33704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enable fair cross-language comparisons despite varying 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600075" y="4954609"/>
            <a:ext cx="9403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repository sizes</a:t>
            </a:r>
            <a:endParaRPr lang="en-US" sz="942" dirty="0"/>
          </a:p>
        </p:txBody>
      </p:sp>
      <p:sp>
        <p:nvSpPr>
          <p:cNvPr id="33" name="Shape 30"/>
          <p:cNvSpPr/>
          <p:nvPr/>
        </p:nvSpPr>
        <p:spPr>
          <a:xfrm>
            <a:off x="4750594" y="1465892"/>
            <a:ext cx="3964781" cy="3880172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344" y="1798634"/>
            <a:ext cx="3378994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Dataset and Methodology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850106"/>
            <a:ext cx="8286750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Rigorous Data Collection and Multi-Dimensional Scoring Framework Ensures Robust Analysis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428625" y="1617752"/>
            <a:ext cx="2595553" cy="141189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617752"/>
            <a:ext cx="28575" cy="1411895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4"/>
          <p:cNvSpPr/>
          <p:nvPr/>
        </p:nvSpPr>
        <p:spPr>
          <a:xfrm>
            <a:off x="642938" y="1832065"/>
            <a:ext cx="216692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Collection</a:t>
            </a:r>
            <a:endParaRPr lang="en-US" sz="889" dirty="0"/>
          </a:p>
        </p:txBody>
      </p:sp>
      <p:sp>
        <p:nvSpPr>
          <p:cNvPr id="8" name="Text 5"/>
          <p:cNvSpPr/>
          <p:nvPr/>
        </p:nvSpPr>
        <p:spPr>
          <a:xfrm>
            <a:off x="642938" y="2083882"/>
            <a:ext cx="2166928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1,200 repositories sourced from GitHub API, with 100 top repositories per language selected based on star count to ensure quality representation</a:t>
            </a:r>
            <a:endParaRPr lang="en-US" sz="837" dirty="0"/>
          </a:p>
        </p:txBody>
      </p:sp>
      <p:sp>
        <p:nvSpPr>
          <p:cNvPr id="9" name="Shape 6"/>
          <p:cNvSpPr/>
          <p:nvPr/>
        </p:nvSpPr>
        <p:spPr>
          <a:xfrm>
            <a:off x="3274209" y="1617752"/>
            <a:ext cx="2595553" cy="141189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7"/>
          <p:cNvSpPr/>
          <p:nvPr/>
        </p:nvSpPr>
        <p:spPr>
          <a:xfrm>
            <a:off x="3274209" y="1617752"/>
            <a:ext cx="28575" cy="1411895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1" name="Text 8"/>
          <p:cNvSpPr/>
          <p:nvPr/>
        </p:nvSpPr>
        <p:spPr>
          <a:xfrm>
            <a:off x="3488522" y="1832065"/>
            <a:ext cx="216692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BC8C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Popularity Metrics</a:t>
            </a:r>
            <a:endParaRPr lang="en-US" sz="889" dirty="0"/>
          </a:p>
        </p:txBody>
      </p:sp>
      <p:sp>
        <p:nvSpPr>
          <p:cNvPr id="12" name="Text 9"/>
          <p:cNvSpPr/>
          <p:nvPr/>
        </p:nvSpPr>
        <p:spPr>
          <a:xfrm>
            <a:off x="3488522" y="2083882"/>
            <a:ext cx="216692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Stars (community appreciation), forks (code reuse), and watchers (ongoing interest), normalized to 0-100 scale</a:t>
            </a:r>
            <a:endParaRPr lang="en-US" sz="837" dirty="0"/>
          </a:p>
        </p:txBody>
      </p:sp>
      <p:sp>
        <p:nvSpPr>
          <p:cNvPr id="13" name="Shape 10"/>
          <p:cNvSpPr/>
          <p:nvPr/>
        </p:nvSpPr>
        <p:spPr>
          <a:xfrm>
            <a:off x="6119794" y="1617752"/>
            <a:ext cx="2595581" cy="141189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1"/>
          <p:cNvSpPr/>
          <p:nvPr/>
        </p:nvSpPr>
        <p:spPr>
          <a:xfrm>
            <a:off x="6119794" y="1617752"/>
            <a:ext cx="28575" cy="1411895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2"/>
          <p:cNvSpPr/>
          <p:nvPr/>
        </p:nvSpPr>
        <p:spPr>
          <a:xfrm>
            <a:off x="6334106" y="1832065"/>
            <a:ext cx="216695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3FB9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Metrics</a:t>
            </a:r>
            <a:endParaRPr lang="en-US" sz="889" dirty="0"/>
          </a:p>
        </p:txBody>
      </p:sp>
      <p:sp>
        <p:nvSpPr>
          <p:cNvPr id="16" name="Text 13"/>
          <p:cNvSpPr/>
          <p:nvPr/>
        </p:nvSpPr>
        <p:spPr>
          <a:xfrm>
            <a:off x="6334106" y="2083882"/>
            <a:ext cx="2166956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Commits across three time windows (30, 90, and 365 days) plus contributor counts to measure development velocity</a:t>
            </a:r>
            <a:endParaRPr lang="en-US" sz="837" dirty="0"/>
          </a:p>
        </p:txBody>
      </p:sp>
      <p:sp>
        <p:nvSpPr>
          <p:cNvPr id="17" name="Shape 14"/>
          <p:cNvSpPr/>
          <p:nvPr/>
        </p:nvSpPr>
        <p:spPr>
          <a:xfrm>
            <a:off x="428625" y="3279679"/>
            <a:ext cx="2595553" cy="1229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" y="3279679"/>
            <a:ext cx="28575" cy="122903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9" name="Text 16"/>
          <p:cNvSpPr/>
          <p:nvPr/>
        </p:nvSpPr>
        <p:spPr>
          <a:xfrm>
            <a:off x="642938" y="3493991"/>
            <a:ext cx="216692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Health Indicators</a:t>
            </a:r>
            <a:endParaRPr lang="en-US" sz="889" dirty="0"/>
          </a:p>
        </p:txBody>
      </p:sp>
      <p:sp>
        <p:nvSpPr>
          <p:cNvPr id="20" name="Text 17"/>
          <p:cNvSpPr/>
          <p:nvPr/>
        </p:nvSpPr>
        <p:spPr>
          <a:xfrm>
            <a:off x="642938" y="3745809"/>
            <a:ext cx="216692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README files (99.3% coverage), licenses (94.2% coverage), contributing guidelines, and codes of conduct</a:t>
            </a:r>
            <a:endParaRPr lang="en-US" sz="837" dirty="0"/>
          </a:p>
        </p:txBody>
      </p:sp>
      <p:sp>
        <p:nvSpPr>
          <p:cNvPr id="21" name="Shape 18"/>
          <p:cNvSpPr/>
          <p:nvPr/>
        </p:nvSpPr>
        <p:spPr>
          <a:xfrm>
            <a:off x="3274209" y="3279679"/>
            <a:ext cx="2595553" cy="1229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19"/>
          <p:cNvSpPr/>
          <p:nvPr/>
        </p:nvSpPr>
        <p:spPr>
          <a:xfrm>
            <a:off x="3274209" y="3279679"/>
            <a:ext cx="28575" cy="12290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0"/>
          <p:cNvSpPr/>
          <p:nvPr/>
        </p:nvSpPr>
        <p:spPr>
          <a:xfrm>
            <a:off x="3488522" y="3493991"/>
            <a:ext cx="216692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Composite Scoring</a:t>
            </a:r>
            <a:endParaRPr lang="en-US" sz="889" dirty="0"/>
          </a:p>
        </p:txBody>
      </p:sp>
      <p:sp>
        <p:nvSpPr>
          <p:cNvPr id="24" name="Text 21"/>
          <p:cNvSpPr/>
          <p:nvPr/>
        </p:nvSpPr>
        <p:spPr>
          <a:xfrm>
            <a:off x="3488522" y="3745809"/>
            <a:ext cx="216692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Overall score calculated as weighted composite: Popularity (40%) + Activity (35%) + Health (25%)</a:t>
            </a:r>
            <a:endParaRPr lang="en-US" sz="837" dirty="0"/>
          </a:p>
        </p:txBody>
      </p:sp>
      <p:sp>
        <p:nvSpPr>
          <p:cNvPr id="25" name="Shape 22"/>
          <p:cNvSpPr/>
          <p:nvPr/>
        </p:nvSpPr>
        <p:spPr>
          <a:xfrm>
            <a:off x="6119794" y="3279679"/>
            <a:ext cx="2595581" cy="1229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Shape 23"/>
          <p:cNvSpPr/>
          <p:nvPr/>
        </p:nvSpPr>
        <p:spPr>
          <a:xfrm>
            <a:off x="6119794" y="3279679"/>
            <a:ext cx="28575" cy="122903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7" name="Text 24"/>
          <p:cNvSpPr/>
          <p:nvPr/>
        </p:nvSpPr>
        <p:spPr>
          <a:xfrm>
            <a:off x="6334106" y="3493991"/>
            <a:ext cx="216695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FFD7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Statistical Validation</a:t>
            </a:r>
            <a:endParaRPr lang="en-US" sz="889" dirty="0"/>
          </a:p>
        </p:txBody>
      </p:sp>
      <p:sp>
        <p:nvSpPr>
          <p:cNvPr id="28" name="Text 25"/>
          <p:cNvSpPr/>
          <p:nvPr/>
        </p:nvSpPr>
        <p:spPr>
          <a:xfrm>
            <a:off x="6334106" y="3745809"/>
            <a:ext cx="21669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ANOVA testing confirms significant differences between language groups, validating observed rankings</a:t>
            </a:r>
            <a:endParaRPr lang="en-US" sz="83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63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842962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Metric Correlations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57188" y="778669"/>
            <a:ext cx="8429625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Understanding Relationships Between Success Factors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357188" y="1161557"/>
            <a:ext cx="8429625" cy="3066455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1375870"/>
            <a:ext cx="8001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Correlation Matrix: Relationships Between Metrics</a:t>
            </a:r>
            <a:endParaRPr lang="en-US" sz="1046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13412"/>
            <a:ext cx="7986713" cy="228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57188" y="4356599"/>
            <a:ext cx="2714625" cy="935831"/>
          </a:xfrm>
          <a:prstGeom prst="rect">
            <a:avLst/>
          </a:prstGeom>
          <a:solidFill>
            <a:srgbClr val="161B22"/>
          </a:solidFill>
          <a:ln w="298">
            <a:solidFill>
              <a:srgbClr val="58A6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64344" y="4463755"/>
            <a:ext cx="250031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0.86</a:t>
            </a:r>
            <a:endParaRPr lang="en-US" sz="2025" dirty="0"/>
          </a:p>
        </p:txBody>
      </p:sp>
      <p:sp>
        <p:nvSpPr>
          <p:cNvPr id="10" name="Text 6"/>
          <p:cNvSpPr/>
          <p:nvPr/>
        </p:nvSpPr>
        <p:spPr>
          <a:xfrm>
            <a:off x="1078260" y="4870949"/>
            <a:ext cx="127248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Commits × Overall Score</a:t>
            </a:r>
            <a:endParaRPr lang="en-US" sz="785" dirty="0"/>
          </a:p>
        </p:txBody>
      </p:sp>
      <p:sp>
        <p:nvSpPr>
          <p:cNvPr id="11" name="Text 7"/>
          <p:cNvSpPr/>
          <p:nvPr/>
        </p:nvSpPr>
        <p:spPr>
          <a:xfrm>
            <a:off x="1206233" y="5017396"/>
            <a:ext cx="101650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Strongest Predictor</a:t>
            </a:r>
            <a:endParaRPr lang="en-US" sz="785" dirty="0"/>
          </a:p>
        </p:txBody>
      </p:sp>
      <p:sp>
        <p:nvSpPr>
          <p:cNvPr id="12" name="Shape 8"/>
          <p:cNvSpPr/>
          <p:nvPr/>
        </p:nvSpPr>
        <p:spPr>
          <a:xfrm>
            <a:off x="3214688" y="4356599"/>
            <a:ext cx="2714625" cy="935831"/>
          </a:xfrm>
          <a:prstGeom prst="rect">
            <a:avLst/>
          </a:prstGeom>
          <a:solidFill>
            <a:srgbClr val="161B22"/>
          </a:solidFill>
          <a:ln w="298">
            <a:solidFill>
              <a:srgbClr val="BC8C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21844" y="4463755"/>
            <a:ext cx="250031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BC8C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0.78</a:t>
            </a:r>
            <a:endParaRPr lang="en-US" sz="2025" dirty="0"/>
          </a:p>
        </p:txBody>
      </p:sp>
      <p:sp>
        <p:nvSpPr>
          <p:cNvPr id="14" name="Text 10"/>
          <p:cNvSpPr/>
          <p:nvPr/>
        </p:nvSpPr>
        <p:spPr>
          <a:xfrm>
            <a:off x="3945555" y="4870949"/>
            <a:ext cx="125289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Contributors × Commits</a:t>
            </a:r>
            <a:endParaRPr lang="en-US" sz="785" dirty="0"/>
          </a:p>
        </p:txBody>
      </p:sp>
      <p:sp>
        <p:nvSpPr>
          <p:cNvPr id="15" name="Text 11"/>
          <p:cNvSpPr/>
          <p:nvPr/>
        </p:nvSpPr>
        <p:spPr>
          <a:xfrm>
            <a:off x="3881205" y="5017396"/>
            <a:ext cx="138159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Collaboration Impact</a:t>
            </a:r>
            <a:endParaRPr lang="en-US" sz="785" dirty="0"/>
          </a:p>
        </p:txBody>
      </p:sp>
      <p:sp>
        <p:nvSpPr>
          <p:cNvPr id="16" name="Shape 12"/>
          <p:cNvSpPr/>
          <p:nvPr/>
        </p:nvSpPr>
        <p:spPr>
          <a:xfrm>
            <a:off x="6072188" y="4356599"/>
            <a:ext cx="2714625" cy="935831"/>
          </a:xfrm>
          <a:prstGeom prst="rect">
            <a:avLst/>
          </a:prstGeom>
          <a:solidFill>
            <a:srgbClr val="161B22"/>
          </a:solidFill>
          <a:ln w="298">
            <a:solidFill>
              <a:srgbClr val="3FB95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79344" y="4463755"/>
            <a:ext cx="250031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3FB9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0.73</a:t>
            </a:r>
            <a:endParaRPr lang="en-US" sz="2025" dirty="0"/>
          </a:p>
        </p:txBody>
      </p:sp>
      <p:sp>
        <p:nvSpPr>
          <p:cNvPr id="18" name="Text 14"/>
          <p:cNvSpPr/>
          <p:nvPr/>
        </p:nvSpPr>
        <p:spPr>
          <a:xfrm>
            <a:off x="7095474" y="4870949"/>
            <a:ext cx="66802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Stars × Forks</a:t>
            </a:r>
            <a:endParaRPr lang="en-US" sz="785" dirty="0"/>
          </a:p>
        </p:txBody>
      </p:sp>
      <p:sp>
        <p:nvSpPr>
          <p:cNvPr id="19" name="Text 15"/>
          <p:cNvSpPr/>
          <p:nvPr/>
        </p:nvSpPr>
        <p:spPr>
          <a:xfrm>
            <a:off x="6871143" y="5017396"/>
            <a:ext cx="111668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Popularity Alignment</a:t>
            </a:r>
            <a:endParaRPr lang="en-US" sz="7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282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Language Rankings - Overall Performance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850106"/>
            <a:ext cx="8286750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Rust, TypeScript, and Go Lead Overall Rankings with Balanced Strength Across All Dimensions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428625" y="1340151"/>
            <a:ext cx="2857500" cy="998339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340151"/>
            <a:ext cx="21431" cy="998339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483026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spc="1" kern="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Performer</a:t>
            </a:r>
            <a:endParaRPr lang="en-US" sz="732" dirty="0"/>
          </a:p>
        </p:txBody>
      </p:sp>
      <p:sp>
        <p:nvSpPr>
          <p:cNvPr id="8" name="Text 5"/>
          <p:cNvSpPr/>
          <p:nvPr/>
        </p:nvSpPr>
        <p:spPr>
          <a:xfrm>
            <a:off x="571500" y="1683051"/>
            <a:ext cx="15720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 claims top position with 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2143599" y="1691980"/>
            <a:ext cx="2714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58A6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49.4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2415062" y="1683051"/>
            <a:ext cx="3871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overall 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571500" y="1859859"/>
            <a:ext cx="25221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score, demonstrating exceptional activity (61.6) 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571500" y="2031309"/>
            <a:ext cx="9004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health (68.0)</a:t>
            </a:r>
            <a:endParaRPr lang="en-US" sz="837" dirty="0"/>
          </a:p>
        </p:txBody>
      </p:sp>
      <p:sp>
        <p:nvSpPr>
          <p:cNvPr id="13" name="Shape 10"/>
          <p:cNvSpPr/>
          <p:nvPr/>
        </p:nvSpPr>
        <p:spPr>
          <a:xfrm>
            <a:off x="428625" y="2481365"/>
            <a:ext cx="2857500" cy="998339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1"/>
          <p:cNvSpPr/>
          <p:nvPr/>
        </p:nvSpPr>
        <p:spPr>
          <a:xfrm>
            <a:off x="428625" y="2481365"/>
            <a:ext cx="21431" cy="998339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2624240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spc="1" kern="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Second Place</a:t>
            </a:r>
            <a:endParaRPr lang="en-US" sz="732" dirty="0"/>
          </a:p>
        </p:txBody>
      </p:sp>
      <p:sp>
        <p:nvSpPr>
          <p:cNvPr id="16" name="Text 13"/>
          <p:cNvSpPr/>
          <p:nvPr/>
        </p:nvSpPr>
        <p:spPr>
          <a:xfrm>
            <a:off x="571500" y="2824265"/>
            <a:ext cx="14640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 ranks second at 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2035578" y="2833195"/>
            <a:ext cx="2714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58A6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48.3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2307041" y="2824265"/>
            <a:ext cx="4177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overall, 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571500" y="3001073"/>
            <a:ext cx="22253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achieving highest activity score (69.4) and </a:t>
            </a:r>
            <a:endParaRPr lang="en-US" sz="837" dirty="0"/>
          </a:p>
        </p:txBody>
      </p:sp>
      <p:sp>
        <p:nvSpPr>
          <p:cNvPr id="20" name="Text 17"/>
          <p:cNvSpPr/>
          <p:nvPr/>
        </p:nvSpPr>
        <p:spPr>
          <a:xfrm>
            <a:off x="571500" y="3172523"/>
            <a:ext cx="10464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strong health (70.4)</a:t>
            </a:r>
            <a:endParaRPr lang="en-US" sz="837" dirty="0"/>
          </a:p>
        </p:txBody>
      </p:sp>
      <p:sp>
        <p:nvSpPr>
          <p:cNvPr id="21" name="Shape 18"/>
          <p:cNvSpPr/>
          <p:nvPr/>
        </p:nvSpPr>
        <p:spPr>
          <a:xfrm>
            <a:off x="428625" y="3622579"/>
            <a:ext cx="2857500" cy="998339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3622579"/>
            <a:ext cx="21431" cy="998339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3" name="Text 20"/>
          <p:cNvSpPr/>
          <p:nvPr/>
        </p:nvSpPr>
        <p:spPr>
          <a:xfrm>
            <a:off x="571500" y="3765454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spc="1" kern="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Third Place</a:t>
            </a:r>
            <a:endParaRPr lang="en-US" sz="732" dirty="0"/>
          </a:p>
        </p:txBody>
      </p:sp>
      <p:sp>
        <p:nvSpPr>
          <p:cNvPr id="24" name="Text 21"/>
          <p:cNvSpPr/>
          <p:nvPr/>
        </p:nvSpPr>
        <p:spPr>
          <a:xfrm>
            <a:off x="571500" y="3965479"/>
            <a:ext cx="11679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 secures third with 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1739419" y="3974409"/>
            <a:ext cx="2714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58A6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46.9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2010882" y="3965479"/>
            <a:ext cx="7050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overall score 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571500" y="4142287"/>
            <a:ext cx="22089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through balanced performance across all </a:t>
            </a:r>
            <a:endParaRPr lang="en-US" sz="837" dirty="0"/>
          </a:p>
        </p:txBody>
      </p:sp>
      <p:sp>
        <p:nvSpPr>
          <p:cNvPr id="28" name="Text 25"/>
          <p:cNvSpPr/>
          <p:nvPr/>
        </p:nvSpPr>
        <p:spPr>
          <a:xfrm>
            <a:off x="571500" y="4313737"/>
            <a:ext cx="3989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metrics</a:t>
            </a:r>
            <a:endParaRPr lang="en-US" sz="837" dirty="0"/>
          </a:p>
        </p:txBody>
      </p:sp>
      <p:sp>
        <p:nvSpPr>
          <p:cNvPr id="29" name="Shape 26"/>
          <p:cNvSpPr/>
          <p:nvPr/>
        </p:nvSpPr>
        <p:spPr>
          <a:xfrm>
            <a:off x="428625" y="4763793"/>
            <a:ext cx="2857500" cy="992981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Shape 27"/>
          <p:cNvSpPr/>
          <p:nvPr/>
        </p:nvSpPr>
        <p:spPr>
          <a:xfrm>
            <a:off x="428625" y="4763793"/>
            <a:ext cx="21431" cy="992981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1" name="Text 28"/>
          <p:cNvSpPr/>
          <p:nvPr/>
        </p:nvSpPr>
        <p:spPr>
          <a:xfrm>
            <a:off x="571500" y="4906668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spc="1" kern="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Statistical Significance</a:t>
            </a:r>
            <a:endParaRPr lang="en-US" sz="732" dirty="0"/>
          </a:p>
        </p:txBody>
      </p:sp>
      <p:sp>
        <p:nvSpPr>
          <p:cNvPr id="32" name="Text 29"/>
          <p:cNvSpPr/>
          <p:nvPr/>
        </p:nvSpPr>
        <p:spPr>
          <a:xfrm>
            <a:off x="571500" y="5099549"/>
            <a:ext cx="2571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ANOVA testing confirms significant differences between language groups (p &lt; 0.05), validating genuine ecosystem variations</a:t>
            </a:r>
            <a:endParaRPr lang="en-US" sz="837" dirty="0"/>
          </a:p>
        </p:txBody>
      </p:sp>
      <p:sp>
        <p:nvSpPr>
          <p:cNvPr id="33" name="Shape 30"/>
          <p:cNvSpPr/>
          <p:nvPr/>
        </p:nvSpPr>
        <p:spPr>
          <a:xfrm>
            <a:off x="3643313" y="1340151"/>
            <a:ext cx="5072063" cy="4559498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929063" y="1625901"/>
            <a:ext cx="45005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Overall Score Rankings (All 12 Languages)</a:t>
            </a:r>
            <a:endParaRPr lang="en-US" sz="942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3" y="1979516"/>
            <a:ext cx="4486275" cy="35772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246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1469" y="321469"/>
            <a:ext cx="850106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Understanding Popularity Metric Distribution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21469" y="742950"/>
            <a:ext cx="8501063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Raw Star Counts Can Be Misleading Without Normalization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321469" y="1161557"/>
            <a:ext cx="5386388" cy="4541639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340151"/>
            <a:ext cx="5014913" cy="30003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22169" y="1161557"/>
            <a:ext cx="2900363" cy="1041202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065044" y="1304432"/>
            <a:ext cx="26146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Power-Law Distribution</a:t>
            </a:r>
            <a:endParaRPr lang="en-US" sz="837" dirty="0"/>
          </a:p>
        </p:txBody>
      </p:sp>
      <p:sp>
        <p:nvSpPr>
          <p:cNvPr id="9" name="Text 5"/>
          <p:cNvSpPr/>
          <p:nvPr/>
        </p:nvSpPr>
        <p:spPr>
          <a:xfrm>
            <a:off x="6065044" y="1531246"/>
            <a:ext cx="26146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Popularity metrics follow a power-law distribution where a few languages dominate absolute numbers while most cluster in lower ranges</a:t>
            </a:r>
            <a:endParaRPr lang="en-US" sz="785" dirty="0"/>
          </a:p>
        </p:txBody>
      </p:sp>
      <p:sp>
        <p:nvSpPr>
          <p:cNvPr id="10" name="Shape 6"/>
          <p:cNvSpPr/>
          <p:nvPr/>
        </p:nvSpPr>
        <p:spPr>
          <a:xfrm>
            <a:off x="5922169" y="2331346"/>
            <a:ext cx="2900363" cy="1160859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65044" y="2474221"/>
            <a:ext cx="26146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5.2x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065044" y="2765329"/>
            <a:ext cx="26146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BC8C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Python's Advantage</a:t>
            </a:r>
            <a:endParaRPr lang="en-US" sz="837" dirty="0"/>
          </a:p>
        </p:txBody>
      </p:sp>
      <p:sp>
        <p:nvSpPr>
          <p:cNvPr id="13" name="Text 9"/>
          <p:cNvSpPr/>
          <p:nvPr/>
        </p:nvSpPr>
        <p:spPr>
          <a:xfrm>
            <a:off x="6065044" y="2992143"/>
            <a:ext cx="26146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Python's 78K avg stars is 5.2× higher than Swift's 15K, creating massive skew in raw comparisons</a:t>
            </a:r>
            <a:endParaRPr lang="en-US" sz="785" dirty="0"/>
          </a:p>
        </p:txBody>
      </p:sp>
      <p:sp>
        <p:nvSpPr>
          <p:cNvPr id="14" name="Shape 10"/>
          <p:cNvSpPr/>
          <p:nvPr/>
        </p:nvSpPr>
        <p:spPr>
          <a:xfrm>
            <a:off x="5922169" y="3620793"/>
            <a:ext cx="2900363" cy="1041202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065044" y="3763668"/>
            <a:ext cx="26146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FB9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Normalization Solution</a:t>
            </a:r>
            <a:endParaRPr lang="en-US" sz="837" dirty="0"/>
          </a:p>
        </p:txBody>
      </p:sp>
      <p:sp>
        <p:nvSpPr>
          <p:cNvPr id="16" name="Text 12"/>
          <p:cNvSpPr/>
          <p:nvPr/>
        </p:nvSpPr>
        <p:spPr>
          <a:xfrm>
            <a:off x="6065044" y="3990482"/>
            <a:ext cx="26146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normalize to 0-100 scale within each metric, enabling fair cross-language comparison regardless of absolute magnitude</a:t>
            </a:r>
            <a:endParaRPr lang="en-US" sz="785" dirty="0"/>
          </a:p>
        </p:txBody>
      </p:sp>
      <p:sp>
        <p:nvSpPr>
          <p:cNvPr id="17" name="Shape 13"/>
          <p:cNvSpPr/>
          <p:nvPr/>
        </p:nvSpPr>
        <p:spPr>
          <a:xfrm>
            <a:off x="5922169" y="4790582"/>
            <a:ext cx="2900363" cy="869752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65044" y="4933457"/>
            <a:ext cx="26146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Beyond Popularity</a:t>
            </a:r>
            <a:endParaRPr lang="en-US" sz="837" dirty="0"/>
          </a:p>
        </p:txBody>
      </p:sp>
      <p:sp>
        <p:nvSpPr>
          <p:cNvPr id="19" name="Text 15"/>
          <p:cNvSpPr/>
          <p:nvPr/>
        </p:nvSpPr>
        <p:spPr>
          <a:xfrm>
            <a:off x="6065044" y="5160271"/>
            <a:ext cx="26146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(r=0.85) and Health metrics prove more predictive of success than raw popularity (r=0.57)</a:t>
            </a:r>
            <a:endParaRPr lang="en-US" sz="7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086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Popularity Analysis - Community Engagement Patterns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850106"/>
            <a:ext cx="8286750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Dominates Total Stars While TypeScript Commands Highest Average Repository Engagement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428625" y="1340151"/>
            <a:ext cx="1937742" cy="100012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340151"/>
            <a:ext cx="21431" cy="1000125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4"/>
          <p:cNvSpPr/>
          <p:nvPr/>
        </p:nvSpPr>
        <p:spPr>
          <a:xfrm>
            <a:off x="557213" y="1468738"/>
            <a:ext cx="166449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Highest Avg Stars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557213" y="1638402"/>
            <a:ext cx="166449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78,107</a:t>
            </a:r>
            <a:endParaRPr lang="en-US" sz="1575" dirty="0"/>
          </a:p>
        </p:txBody>
      </p:sp>
      <p:sp>
        <p:nvSpPr>
          <p:cNvPr id="9" name="Text 6"/>
          <p:cNvSpPr/>
          <p:nvPr/>
        </p:nvSpPr>
        <p:spPr>
          <a:xfrm>
            <a:off x="557213" y="1940226"/>
            <a:ext cx="166449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- Broad adoption across domains</a:t>
            </a:r>
            <a:endParaRPr lang="en-US" sz="732" dirty="0"/>
          </a:p>
        </p:txBody>
      </p:sp>
      <p:sp>
        <p:nvSpPr>
          <p:cNvPr id="10" name="Shape 7"/>
          <p:cNvSpPr/>
          <p:nvPr/>
        </p:nvSpPr>
        <p:spPr>
          <a:xfrm>
            <a:off x="2528888" y="1340151"/>
            <a:ext cx="1943100" cy="100012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8"/>
          <p:cNvSpPr/>
          <p:nvPr/>
        </p:nvSpPr>
        <p:spPr>
          <a:xfrm>
            <a:off x="2528888" y="1340151"/>
            <a:ext cx="21431" cy="1000125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2" name="Text 9"/>
          <p:cNvSpPr/>
          <p:nvPr/>
        </p:nvSpPr>
        <p:spPr>
          <a:xfrm>
            <a:off x="2662833" y="1468738"/>
            <a:ext cx="16698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Second Highest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2662833" y="1638402"/>
            <a:ext cx="166985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68,602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2662833" y="1940226"/>
            <a:ext cx="16698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 - High-quality projects</a:t>
            </a:r>
            <a:endParaRPr lang="en-US" sz="732" dirty="0"/>
          </a:p>
        </p:txBody>
      </p:sp>
      <p:sp>
        <p:nvSpPr>
          <p:cNvPr id="15" name="Shape 12"/>
          <p:cNvSpPr/>
          <p:nvPr/>
        </p:nvSpPr>
        <p:spPr>
          <a:xfrm>
            <a:off x="4639866" y="1340151"/>
            <a:ext cx="1948458" cy="100012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3"/>
          <p:cNvSpPr/>
          <p:nvPr/>
        </p:nvSpPr>
        <p:spPr>
          <a:xfrm>
            <a:off x="4639866" y="1340151"/>
            <a:ext cx="21431" cy="1000125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4"/>
          <p:cNvSpPr/>
          <p:nvPr/>
        </p:nvSpPr>
        <p:spPr>
          <a:xfrm>
            <a:off x="4779169" y="1468738"/>
            <a:ext cx="16752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Highest Avg Forks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4779169" y="1638402"/>
            <a:ext cx="167520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13,154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4779169" y="1940226"/>
            <a:ext cx="16752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- Strong code reuse</a:t>
            </a:r>
            <a:endParaRPr lang="en-US" sz="732" dirty="0"/>
          </a:p>
        </p:txBody>
      </p:sp>
      <p:sp>
        <p:nvSpPr>
          <p:cNvPr id="20" name="Shape 17"/>
          <p:cNvSpPr/>
          <p:nvPr/>
        </p:nvSpPr>
        <p:spPr>
          <a:xfrm>
            <a:off x="6761559" y="1340151"/>
            <a:ext cx="1953816" cy="100012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8"/>
          <p:cNvSpPr/>
          <p:nvPr/>
        </p:nvSpPr>
        <p:spPr>
          <a:xfrm>
            <a:off x="6761559" y="1340151"/>
            <a:ext cx="21431" cy="1000125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2" name="Text 19"/>
          <p:cNvSpPr/>
          <p:nvPr/>
        </p:nvSpPr>
        <p:spPr>
          <a:xfrm>
            <a:off x="6906220" y="1468738"/>
            <a:ext cx="168056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Stars-to-Forks Ratio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6906220" y="1638402"/>
            <a:ext cx="168056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0.161</a:t>
            </a:r>
            <a:endParaRPr lang="en-US" sz="1575" dirty="0"/>
          </a:p>
        </p:txBody>
      </p:sp>
      <p:sp>
        <p:nvSpPr>
          <p:cNvPr id="24" name="Text 21"/>
          <p:cNvSpPr/>
          <p:nvPr/>
        </p:nvSpPr>
        <p:spPr>
          <a:xfrm>
            <a:off x="6906220" y="1940226"/>
            <a:ext cx="16805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~1 fork per 6 stars average</a:t>
            </a:r>
            <a:endParaRPr lang="en-US" sz="732" dirty="0"/>
          </a:p>
        </p:txBody>
      </p:sp>
      <p:sp>
        <p:nvSpPr>
          <p:cNvPr id="25" name="Shape 22"/>
          <p:cNvSpPr/>
          <p:nvPr/>
        </p:nvSpPr>
        <p:spPr>
          <a:xfrm>
            <a:off x="428625" y="2590307"/>
            <a:ext cx="4036219" cy="3189684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7219" y="2768901"/>
            <a:ext cx="36790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Average Stars per Repository</a:t>
            </a:r>
            <a:endParaRPr lang="en-US" sz="942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3086798"/>
            <a:ext cx="3664744" cy="2500313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4679156" y="2590307"/>
            <a:ext cx="4036219" cy="3189684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57750" y="2768901"/>
            <a:ext cx="36790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Average Forks per Repository</a:t>
            </a:r>
            <a:endParaRPr lang="en-US" sz="942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3086798"/>
            <a:ext cx="3664744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841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1469" y="321469"/>
            <a:ext cx="850106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Analysis - Development Velocity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21469" y="742950"/>
            <a:ext cx="8501063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 and Rust Demonstrate Highest Development Activity with Superior Contributor Engagement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321469" y="1161557"/>
            <a:ext cx="4972050" cy="4301151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340151"/>
            <a:ext cx="4600575" cy="38433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07831" y="1161557"/>
            <a:ext cx="3314700" cy="1347992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650706" y="1304432"/>
            <a:ext cx="30289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FB9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311</a:t>
            </a:r>
            <a:endParaRPr lang="en-US" sz="2025" dirty="0"/>
          </a:p>
        </p:txBody>
      </p:sp>
      <p:sp>
        <p:nvSpPr>
          <p:cNvPr id="9" name="Text 5"/>
          <p:cNvSpPr/>
          <p:nvPr/>
        </p:nvSpPr>
        <p:spPr>
          <a:xfrm>
            <a:off x="5650706" y="1725913"/>
            <a:ext cx="30289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 Leads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5650706" y="1986660"/>
            <a:ext cx="30289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Highest average contributors per repository, indicating strong collaborative development culture</a:t>
            </a:r>
            <a:endParaRPr lang="en-US" sz="837" dirty="0"/>
          </a:p>
        </p:txBody>
      </p:sp>
      <p:sp>
        <p:nvSpPr>
          <p:cNvPr id="11" name="Shape 7"/>
          <p:cNvSpPr/>
          <p:nvPr/>
        </p:nvSpPr>
        <p:spPr>
          <a:xfrm>
            <a:off x="5507831" y="2623849"/>
            <a:ext cx="3314700" cy="1347992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50706" y="2766724"/>
            <a:ext cx="30289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FB9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258</a:t>
            </a:r>
            <a:endParaRPr lang="en-US" sz="2025" dirty="0"/>
          </a:p>
        </p:txBody>
      </p:sp>
      <p:sp>
        <p:nvSpPr>
          <p:cNvPr id="13" name="Text 9"/>
          <p:cNvSpPr/>
          <p:nvPr/>
        </p:nvSpPr>
        <p:spPr>
          <a:xfrm>
            <a:off x="5650706" y="3188205"/>
            <a:ext cx="30289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 Second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5650706" y="3448952"/>
            <a:ext cx="30289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Active community despite smaller total repository count, showing high engagement</a:t>
            </a:r>
            <a:endParaRPr lang="en-US" sz="837" dirty="0"/>
          </a:p>
        </p:txBody>
      </p:sp>
      <p:sp>
        <p:nvSpPr>
          <p:cNvPr id="15" name="Shape 11"/>
          <p:cNvSpPr/>
          <p:nvPr/>
        </p:nvSpPr>
        <p:spPr>
          <a:xfrm>
            <a:off x="5507831" y="4086141"/>
            <a:ext cx="3314700" cy="1347992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50706" y="4229016"/>
            <a:ext cx="30289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FB9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98</a:t>
            </a:r>
            <a:endParaRPr lang="en-US" sz="2025" dirty="0"/>
          </a:p>
        </p:txBody>
      </p:sp>
      <p:sp>
        <p:nvSpPr>
          <p:cNvPr id="17" name="Text 13"/>
          <p:cNvSpPr/>
          <p:nvPr/>
        </p:nvSpPr>
        <p:spPr>
          <a:xfrm>
            <a:off x="5650706" y="4650498"/>
            <a:ext cx="30289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Swift Lowest</a:t>
            </a:r>
            <a:endParaRPr lang="en-US" sz="942" dirty="0"/>
          </a:p>
        </p:txBody>
      </p:sp>
      <p:sp>
        <p:nvSpPr>
          <p:cNvPr id="18" name="Text 14"/>
          <p:cNvSpPr/>
          <p:nvPr/>
        </p:nvSpPr>
        <p:spPr>
          <a:xfrm>
            <a:off x="5650706" y="4911244"/>
            <a:ext cx="30289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Lowest contributor count suggests concentrated development or platform-specific constraints</a:t>
            </a:r>
            <a:endParaRPr lang="en-US" sz="83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017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1469" y="321469"/>
            <a:ext cx="850106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Correlation Analysis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21469" y="742950"/>
            <a:ext cx="8501063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Score Emerges as Strongest Predictor of Language Ecosystem Success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321469" y="1125838"/>
            <a:ext cx="8501063" cy="2816423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0063" y="1304432"/>
            <a:ext cx="8143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Score vs Overall Score Correlation (r = 0.85)</a:t>
            </a:r>
            <a:endParaRPr lang="en-US" sz="1046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606255"/>
            <a:ext cx="8129588" cy="21431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1469" y="4070849"/>
            <a:ext cx="2747944" cy="1195099"/>
          </a:xfrm>
          <a:prstGeom prst="rect">
            <a:avLst/>
          </a:prstGeom>
          <a:solidFill>
            <a:srgbClr val="161B22"/>
          </a:solidFill>
          <a:ln w="298">
            <a:solidFill>
              <a:srgbClr val="58A6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35769" y="4185149"/>
            <a:ext cx="251934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0.85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35769" y="4540551"/>
            <a:ext cx="25193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Correlation Coefficient</a:t>
            </a:r>
            <a:endParaRPr lang="en-US" sz="680" dirty="0"/>
          </a:p>
        </p:txBody>
      </p:sp>
      <p:sp>
        <p:nvSpPr>
          <p:cNvPr id="11" name="Text 7"/>
          <p:cNvSpPr/>
          <p:nvPr/>
        </p:nvSpPr>
        <p:spPr>
          <a:xfrm>
            <a:off x="435769" y="4710215"/>
            <a:ext cx="2519344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Strong positive correlation confirms active development is the strongest predictor of ecosystem success</a:t>
            </a:r>
            <a:endParaRPr lang="en-US" sz="732" dirty="0"/>
          </a:p>
        </p:txBody>
      </p:sp>
      <p:sp>
        <p:nvSpPr>
          <p:cNvPr id="12" name="Shape 8"/>
          <p:cNvSpPr/>
          <p:nvPr/>
        </p:nvSpPr>
        <p:spPr>
          <a:xfrm>
            <a:off x="3198000" y="4070849"/>
            <a:ext cx="2747972" cy="1195099"/>
          </a:xfrm>
          <a:prstGeom prst="rect">
            <a:avLst/>
          </a:prstGeom>
          <a:solidFill>
            <a:srgbClr val="161B22"/>
          </a:solidFill>
          <a:ln w="298">
            <a:solidFill>
              <a:srgbClr val="FF6B6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12300" y="4185149"/>
            <a:ext cx="251937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29.1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312300" y="4540551"/>
            <a:ext cx="251937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Swift Activity Score</a:t>
            </a:r>
            <a:endParaRPr lang="en-US" sz="680" dirty="0"/>
          </a:p>
        </p:txBody>
      </p:sp>
      <p:sp>
        <p:nvSpPr>
          <p:cNvPr id="15" name="Text 11"/>
          <p:cNvSpPr/>
          <p:nvPr/>
        </p:nvSpPr>
        <p:spPr>
          <a:xfrm>
            <a:off x="3312300" y="4710215"/>
            <a:ext cx="2519372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Lowest activity score among all languages, suggesting maturation or platform-specific development constraints</a:t>
            </a:r>
            <a:endParaRPr lang="en-US" sz="732" dirty="0"/>
          </a:p>
        </p:txBody>
      </p:sp>
      <p:sp>
        <p:nvSpPr>
          <p:cNvPr id="16" name="Shape 12"/>
          <p:cNvSpPr/>
          <p:nvPr/>
        </p:nvSpPr>
        <p:spPr>
          <a:xfrm>
            <a:off x="6074559" y="4070849"/>
            <a:ext cx="2747944" cy="1173668"/>
          </a:xfrm>
          <a:prstGeom prst="rect">
            <a:avLst/>
          </a:prstGeom>
          <a:solidFill>
            <a:srgbClr val="161B22"/>
          </a:solidFill>
          <a:ln w="298">
            <a:solidFill>
              <a:srgbClr val="BC8C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88859" y="4185149"/>
            <a:ext cx="251934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36.6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188859" y="4540551"/>
            <a:ext cx="25193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Kotlin Activity Score</a:t>
            </a:r>
            <a:endParaRPr lang="en-US" sz="680" dirty="0"/>
          </a:p>
        </p:txBody>
      </p:sp>
      <p:sp>
        <p:nvSpPr>
          <p:cNvPr id="19" name="Text 15"/>
          <p:cNvSpPr/>
          <p:nvPr/>
        </p:nvSpPr>
        <p:spPr>
          <a:xfrm>
            <a:off x="6188859" y="4710215"/>
            <a:ext cx="25193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Second lowest activity, indicating reduced innovation pace or concentrated development efforts</a:t>
            </a:r>
            <a:endParaRPr lang="en-US" sz="73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961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 Readiness Assessment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850106"/>
            <a:ext cx="8286750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 and JavaScript Lead Enterprise Adoption with Strong Compliance Foundations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428625" y="1340151"/>
            <a:ext cx="8286750" cy="2943225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554463"/>
            <a:ext cx="7843838" cy="250031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28625" y="4483401"/>
            <a:ext cx="2643188" cy="1169789"/>
          </a:xfrm>
          <a:prstGeom prst="rect">
            <a:avLst/>
          </a:prstGeom>
          <a:solidFill>
            <a:srgbClr val="161B22"/>
          </a:solidFill>
          <a:ln w="298">
            <a:solidFill>
              <a:srgbClr val="58A6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71500" y="4626276"/>
            <a:ext cx="235743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40%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71500" y="4995965"/>
            <a:ext cx="2357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 Leader</a:t>
            </a:r>
            <a:endParaRPr lang="en-US" sz="732" dirty="0"/>
          </a:p>
        </p:txBody>
      </p:sp>
      <p:sp>
        <p:nvSpPr>
          <p:cNvPr id="10" name="Text 6"/>
          <p:cNvSpPr/>
          <p:nvPr/>
        </p:nvSpPr>
        <p:spPr>
          <a:xfrm>
            <a:off x="571500" y="5188846"/>
            <a:ext cx="23574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Highest enterprise-ready percentage with strong compliance score (0.79)</a:t>
            </a:r>
            <a:endParaRPr lang="en-US" sz="785" dirty="0"/>
          </a:p>
        </p:txBody>
      </p:sp>
      <p:sp>
        <p:nvSpPr>
          <p:cNvPr id="11" name="Shape 7"/>
          <p:cNvSpPr/>
          <p:nvPr/>
        </p:nvSpPr>
        <p:spPr>
          <a:xfrm>
            <a:off x="3250406" y="4483401"/>
            <a:ext cx="2643188" cy="1169789"/>
          </a:xfrm>
          <a:prstGeom prst="rect">
            <a:avLst/>
          </a:prstGeom>
          <a:solidFill>
            <a:srgbClr val="161B22"/>
          </a:solidFill>
          <a:ln w="298">
            <a:solidFill>
              <a:srgbClr val="BC8C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93281" y="4626276"/>
            <a:ext cx="235743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0.79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393281" y="4995965"/>
            <a:ext cx="2357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Compliance</a:t>
            </a:r>
            <a:endParaRPr lang="en-US" sz="732" dirty="0"/>
          </a:p>
        </p:txBody>
      </p:sp>
      <p:sp>
        <p:nvSpPr>
          <p:cNvPr id="14" name="Text 10"/>
          <p:cNvSpPr/>
          <p:nvPr/>
        </p:nvSpPr>
        <p:spPr>
          <a:xfrm>
            <a:off x="3393281" y="5188846"/>
            <a:ext cx="23574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 compliance score correlates directly with enterprise adoption rate</a:t>
            </a:r>
            <a:endParaRPr lang="en-US" sz="785" dirty="0"/>
          </a:p>
        </p:txBody>
      </p:sp>
      <p:sp>
        <p:nvSpPr>
          <p:cNvPr id="15" name="Shape 11"/>
          <p:cNvSpPr/>
          <p:nvPr/>
        </p:nvSpPr>
        <p:spPr>
          <a:xfrm>
            <a:off x="6072188" y="4483401"/>
            <a:ext cx="2643188" cy="1169789"/>
          </a:xfrm>
          <a:prstGeom prst="rect">
            <a:avLst/>
          </a:prstGeom>
          <a:solidFill>
            <a:srgbClr val="161B22"/>
          </a:solidFill>
          <a:ln w="298">
            <a:solidFill>
              <a:srgbClr val="3FB95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5063" y="4626276"/>
            <a:ext cx="235743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+15%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215063" y="4995965"/>
            <a:ext cx="2357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Adoption Gap</a:t>
            </a:r>
            <a:endParaRPr lang="en-US" sz="732" dirty="0"/>
          </a:p>
        </p:txBody>
      </p:sp>
      <p:sp>
        <p:nvSpPr>
          <p:cNvPr id="18" name="Text 14"/>
          <p:cNvSpPr/>
          <p:nvPr/>
        </p:nvSpPr>
        <p:spPr>
          <a:xfrm>
            <a:off x="6215063" y="5188846"/>
            <a:ext cx="23574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languages (TS, JS, Rust) outperform traditional ones (Java, PHP) by 15-25%</a:t>
            </a:r>
            <a:endParaRPr lang="en-US" sz="7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0031" y="250031"/>
            <a:ext cx="864393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3D Language Ecosystem Visualization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250031" y="619720"/>
            <a:ext cx="86439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 Exploration of Popularity, Activity, and Health Dimensions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250031" y="919758"/>
            <a:ext cx="6386513" cy="3973711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9" y="991195"/>
            <a:ext cx="6243638" cy="383083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65131" y="919758"/>
            <a:ext cx="2128838" cy="922604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65144" y="1019770"/>
            <a:ext cx="19288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🔄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865144" y="1296591"/>
            <a:ext cx="19288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FB9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</a:t>
            </a:r>
            <a:endParaRPr lang="en-US" sz="732" dirty="0"/>
          </a:p>
        </p:txBody>
      </p:sp>
      <p:sp>
        <p:nvSpPr>
          <p:cNvPr id="10" name="Text 6"/>
          <p:cNvSpPr/>
          <p:nvPr/>
        </p:nvSpPr>
        <p:spPr>
          <a:xfrm>
            <a:off x="6865144" y="1468041"/>
            <a:ext cx="192881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Rotate and zoom to explore language positioning across three key dimensions</a:t>
            </a:r>
            <a:endParaRPr lang="en-US" sz="680" dirty="0"/>
          </a:p>
        </p:txBody>
      </p:sp>
      <p:sp>
        <p:nvSpPr>
          <p:cNvPr id="11" name="Shape 7"/>
          <p:cNvSpPr/>
          <p:nvPr/>
        </p:nvSpPr>
        <p:spPr>
          <a:xfrm>
            <a:off x="6765131" y="1913799"/>
            <a:ext cx="2128838" cy="922604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65144" y="2013812"/>
            <a:ext cx="19288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📊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65144" y="2290632"/>
            <a:ext cx="19288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Clustering</a:t>
            </a:r>
            <a:endParaRPr lang="en-US" sz="732" dirty="0"/>
          </a:p>
        </p:txBody>
      </p:sp>
      <p:sp>
        <p:nvSpPr>
          <p:cNvPr id="14" name="Text 10"/>
          <p:cNvSpPr/>
          <p:nvPr/>
        </p:nvSpPr>
        <p:spPr>
          <a:xfrm>
            <a:off x="6865144" y="2462082"/>
            <a:ext cx="192881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languages (Rust, TypeScript, Go) cluster in high-activity, high-health region</a:t>
            </a:r>
            <a:endParaRPr lang="en-US" sz="680" dirty="0"/>
          </a:p>
        </p:txBody>
      </p:sp>
      <p:sp>
        <p:nvSpPr>
          <p:cNvPr id="15" name="Shape 11"/>
          <p:cNvSpPr/>
          <p:nvPr/>
        </p:nvSpPr>
        <p:spPr>
          <a:xfrm>
            <a:off x="6765131" y="2907841"/>
            <a:ext cx="2128838" cy="922604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65144" y="3007854"/>
            <a:ext cx="19288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🎯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865144" y="3284674"/>
            <a:ext cx="19288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BC8C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Patterns</a:t>
            </a:r>
            <a:endParaRPr lang="en-US" sz="732" dirty="0"/>
          </a:p>
        </p:txBody>
      </p:sp>
      <p:sp>
        <p:nvSpPr>
          <p:cNvPr id="18" name="Text 14"/>
          <p:cNvSpPr/>
          <p:nvPr/>
        </p:nvSpPr>
        <p:spPr>
          <a:xfrm>
            <a:off x="6865144" y="3456124"/>
            <a:ext cx="192881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Traditional languages spread across lower activity zones despite high popularity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586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Repository Segmentation Analysis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850106"/>
            <a:ext cx="8286750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Growth Repositories Show Strong Correlation with Excellent Quality Ratings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428625" y="1340151"/>
            <a:ext cx="4000500" cy="3046809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938" y="1554463"/>
            <a:ext cx="35718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Growth Segment Distribution</a:t>
            </a:r>
            <a:endParaRPr lang="en-US" sz="942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872360"/>
            <a:ext cx="3557588" cy="228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14875" y="1340151"/>
            <a:ext cx="4000500" cy="3046809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29188" y="1554463"/>
            <a:ext cx="35718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Quality Segment Distribution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872360"/>
            <a:ext cx="3557588" cy="22860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28625" y="4622704"/>
            <a:ext cx="2643188" cy="1193006"/>
          </a:xfrm>
          <a:prstGeom prst="rect">
            <a:avLst/>
          </a:prstGeom>
          <a:solidFill>
            <a:srgbClr val="161B22"/>
          </a:solidFill>
          <a:ln w="298">
            <a:solidFill>
              <a:srgbClr val="3FB95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71500" y="4765579"/>
            <a:ext cx="23574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FB9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438</a:t>
            </a:r>
            <a:endParaRPr lang="en-US" sz="2025" dirty="0"/>
          </a:p>
        </p:txBody>
      </p:sp>
      <p:sp>
        <p:nvSpPr>
          <p:cNvPr id="13" name="Text 8"/>
          <p:cNvSpPr/>
          <p:nvPr/>
        </p:nvSpPr>
        <p:spPr>
          <a:xfrm>
            <a:off x="571500" y="5172773"/>
            <a:ext cx="2357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Growth Repos</a:t>
            </a:r>
            <a:endParaRPr lang="en-US" sz="732" dirty="0"/>
          </a:p>
        </p:txBody>
      </p:sp>
      <p:sp>
        <p:nvSpPr>
          <p:cNvPr id="14" name="Text 9"/>
          <p:cNvSpPr/>
          <p:nvPr/>
        </p:nvSpPr>
        <p:spPr>
          <a:xfrm>
            <a:off x="571500" y="5351366"/>
            <a:ext cx="23574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42% of repositories show high growth signals, indicating active development ecosystems</a:t>
            </a:r>
            <a:endParaRPr lang="en-US" sz="785" dirty="0"/>
          </a:p>
        </p:txBody>
      </p:sp>
      <p:sp>
        <p:nvSpPr>
          <p:cNvPr id="15" name="Shape 10"/>
          <p:cNvSpPr/>
          <p:nvPr/>
        </p:nvSpPr>
        <p:spPr>
          <a:xfrm>
            <a:off x="3250406" y="4622704"/>
            <a:ext cx="2643188" cy="1193006"/>
          </a:xfrm>
          <a:prstGeom prst="rect">
            <a:avLst/>
          </a:prstGeom>
          <a:solidFill>
            <a:srgbClr val="161B22"/>
          </a:solidFill>
          <a:ln w="298">
            <a:solidFill>
              <a:srgbClr val="58A6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393281" y="4765579"/>
            <a:ext cx="23574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295</a:t>
            </a:r>
            <a:endParaRPr lang="en-US" sz="2025" dirty="0"/>
          </a:p>
        </p:txBody>
      </p:sp>
      <p:sp>
        <p:nvSpPr>
          <p:cNvPr id="17" name="Text 12"/>
          <p:cNvSpPr/>
          <p:nvPr/>
        </p:nvSpPr>
        <p:spPr>
          <a:xfrm>
            <a:off x="3393281" y="5172773"/>
            <a:ext cx="2357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Excellent Quality</a:t>
            </a:r>
            <a:endParaRPr lang="en-US" sz="732" dirty="0"/>
          </a:p>
        </p:txBody>
      </p:sp>
      <p:sp>
        <p:nvSpPr>
          <p:cNvPr id="18" name="Text 13"/>
          <p:cNvSpPr/>
          <p:nvPr/>
        </p:nvSpPr>
        <p:spPr>
          <a:xfrm>
            <a:off x="3393281" y="5351366"/>
            <a:ext cx="23574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28% achieve excellent quality ratings with all health indicators present</a:t>
            </a:r>
            <a:endParaRPr lang="en-US" sz="785" dirty="0"/>
          </a:p>
        </p:txBody>
      </p:sp>
      <p:sp>
        <p:nvSpPr>
          <p:cNvPr id="19" name="Shape 14"/>
          <p:cNvSpPr/>
          <p:nvPr/>
        </p:nvSpPr>
        <p:spPr>
          <a:xfrm>
            <a:off x="6072188" y="4622704"/>
            <a:ext cx="2643188" cy="1193006"/>
          </a:xfrm>
          <a:prstGeom prst="rect">
            <a:avLst/>
          </a:prstGeom>
          <a:solidFill>
            <a:srgbClr val="161B22"/>
          </a:solidFill>
          <a:ln w="298">
            <a:solidFill>
              <a:srgbClr val="BC8C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215063" y="4765579"/>
            <a:ext cx="23574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BC8C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155</a:t>
            </a:r>
            <a:endParaRPr lang="en-US" sz="2025" dirty="0"/>
          </a:p>
        </p:txBody>
      </p:sp>
      <p:sp>
        <p:nvSpPr>
          <p:cNvPr id="21" name="Text 16"/>
          <p:cNvSpPr/>
          <p:nvPr/>
        </p:nvSpPr>
        <p:spPr>
          <a:xfrm>
            <a:off x="6215063" y="5172773"/>
            <a:ext cx="2357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Growth + Excellent</a:t>
            </a:r>
            <a:endParaRPr lang="en-US" sz="732" dirty="0"/>
          </a:p>
        </p:txBody>
      </p:sp>
      <p:sp>
        <p:nvSpPr>
          <p:cNvPr id="22" name="Text 17"/>
          <p:cNvSpPr/>
          <p:nvPr/>
        </p:nvSpPr>
        <p:spPr>
          <a:xfrm>
            <a:off x="6215063" y="5351366"/>
            <a:ext cx="23574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155 repositories combine high growth with excellent quality, representing top-tier projects</a:t>
            </a:r>
            <a:endParaRPr lang="en-US" sz="78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27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Performing Repositories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850106"/>
            <a:ext cx="8286750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Elite Projects Demonstrate Excellence Across All Metrics with Exceptional Community Engagement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428625" y="1340151"/>
            <a:ext cx="2643188" cy="2496741"/>
          </a:xfrm>
          <a:prstGeom prst="rect">
            <a:avLst/>
          </a:prstGeom>
          <a:solidFill>
            <a:srgbClr val="161B22"/>
          </a:solidFill>
          <a:ln w="397">
            <a:solidFill>
              <a:srgbClr val="00599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7219" y="1518745"/>
            <a:ext cx="2286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TensorFlow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7219" y="1809852"/>
            <a:ext cx="2286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spc="1" kern="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C++ • Machine Learning</a:t>
            </a:r>
            <a:endParaRPr lang="en-US" sz="732" dirty="0"/>
          </a:p>
        </p:txBody>
      </p:sp>
      <p:sp>
        <p:nvSpPr>
          <p:cNvPr id="8" name="Text 5"/>
          <p:cNvSpPr/>
          <p:nvPr/>
        </p:nvSpPr>
        <p:spPr>
          <a:xfrm>
            <a:off x="607219" y="2104532"/>
            <a:ext cx="2194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Stars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2293144" y="2074171"/>
            <a:ext cx="6000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58A6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192,085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607219" y="2377780"/>
            <a:ext cx="2368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Forks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2378869" y="2347420"/>
            <a:ext cx="5143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58A6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74,915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607219" y="2651029"/>
            <a:ext cx="5551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Contributors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2636044" y="2620668"/>
            <a:ext cx="2571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58A6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412</a:t>
            </a:r>
            <a:endParaRPr lang="en-US" sz="1046" dirty="0"/>
          </a:p>
        </p:txBody>
      </p:sp>
      <p:sp>
        <p:nvSpPr>
          <p:cNvPr id="14" name="Shape 11"/>
          <p:cNvSpPr/>
          <p:nvPr/>
        </p:nvSpPr>
        <p:spPr>
          <a:xfrm>
            <a:off x="607219" y="2972498"/>
            <a:ext cx="2286000" cy="6858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2"/>
          <p:cNvSpPr/>
          <p:nvPr/>
        </p:nvSpPr>
        <p:spPr>
          <a:xfrm>
            <a:off x="714375" y="3079654"/>
            <a:ext cx="20716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Maturity Score</a:t>
            </a:r>
            <a:endParaRPr lang="en-US" sz="628" dirty="0"/>
          </a:p>
        </p:txBody>
      </p:sp>
      <p:sp>
        <p:nvSpPr>
          <p:cNvPr id="16" name="Text 13"/>
          <p:cNvSpPr/>
          <p:nvPr/>
        </p:nvSpPr>
        <p:spPr>
          <a:xfrm>
            <a:off x="714375" y="3238602"/>
            <a:ext cx="20716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90.86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250406" y="1340151"/>
            <a:ext cx="2643188" cy="2496741"/>
          </a:xfrm>
          <a:prstGeom prst="rect">
            <a:avLst/>
          </a:prstGeom>
          <a:solidFill>
            <a:srgbClr val="161B22"/>
          </a:solidFill>
          <a:ln w="397">
            <a:solidFill>
              <a:srgbClr val="00599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29000" y="1518745"/>
            <a:ext cx="2286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React Native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429000" y="1809852"/>
            <a:ext cx="2286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spc="1" kern="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C++ • Mobile Framework</a:t>
            </a:r>
            <a:endParaRPr lang="en-US" sz="732" dirty="0"/>
          </a:p>
        </p:txBody>
      </p:sp>
      <p:sp>
        <p:nvSpPr>
          <p:cNvPr id="20" name="Text 17"/>
          <p:cNvSpPr/>
          <p:nvPr/>
        </p:nvSpPr>
        <p:spPr>
          <a:xfrm>
            <a:off x="3429000" y="2104532"/>
            <a:ext cx="2194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Stars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5114925" y="2074171"/>
            <a:ext cx="6000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58A6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124,204</a:t>
            </a:r>
            <a:endParaRPr lang="en-US" sz="1046" dirty="0"/>
          </a:p>
        </p:txBody>
      </p:sp>
      <p:sp>
        <p:nvSpPr>
          <p:cNvPr id="22" name="Text 19"/>
          <p:cNvSpPr/>
          <p:nvPr/>
        </p:nvSpPr>
        <p:spPr>
          <a:xfrm>
            <a:off x="3429000" y="2377780"/>
            <a:ext cx="2368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Forks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5200650" y="2347420"/>
            <a:ext cx="5143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58A6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24,893</a:t>
            </a:r>
            <a:endParaRPr lang="en-US" sz="1046" dirty="0"/>
          </a:p>
        </p:txBody>
      </p:sp>
      <p:sp>
        <p:nvSpPr>
          <p:cNvPr id="24" name="Text 21"/>
          <p:cNvSpPr/>
          <p:nvPr/>
        </p:nvSpPr>
        <p:spPr>
          <a:xfrm>
            <a:off x="3429000" y="2651029"/>
            <a:ext cx="5551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Contributors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5457825" y="2620668"/>
            <a:ext cx="2571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58A6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305</a:t>
            </a:r>
            <a:endParaRPr lang="en-US" sz="1046" dirty="0"/>
          </a:p>
        </p:txBody>
      </p:sp>
      <p:sp>
        <p:nvSpPr>
          <p:cNvPr id="26" name="Shape 23"/>
          <p:cNvSpPr/>
          <p:nvPr/>
        </p:nvSpPr>
        <p:spPr>
          <a:xfrm>
            <a:off x="3429000" y="2972498"/>
            <a:ext cx="2286000" cy="6858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7" name="Text 24"/>
          <p:cNvSpPr/>
          <p:nvPr/>
        </p:nvSpPr>
        <p:spPr>
          <a:xfrm>
            <a:off x="3536156" y="3079654"/>
            <a:ext cx="20716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Maturity Score</a:t>
            </a:r>
            <a:endParaRPr lang="en-US" sz="628" dirty="0"/>
          </a:p>
        </p:txBody>
      </p:sp>
      <p:sp>
        <p:nvSpPr>
          <p:cNvPr id="28" name="Text 25"/>
          <p:cNvSpPr/>
          <p:nvPr/>
        </p:nvSpPr>
        <p:spPr>
          <a:xfrm>
            <a:off x="3536156" y="3238602"/>
            <a:ext cx="20716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85.24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072188" y="1340151"/>
            <a:ext cx="2643188" cy="2496741"/>
          </a:xfrm>
          <a:prstGeom prst="rect">
            <a:avLst/>
          </a:prstGeom>
          <a:solidFill>
            <a:srgbClr val="161B22"/>
          </a:solidFill>
          <a:ln w="397">
            <a:solidFill>
              <a:srgbClr val="2391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50781" y="1518745"/>
            <a:ext cx="2286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PowerToys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6250781" y="1809852"/>
            <a:ext cx="2286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spc="1" kern="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C# • System Utilities</a:t>
            </a:r>
            <a:endParaRPr lang="en-US" sz="732" dirty="0"/>
          </a:p>
        </p:txBody>
      </p:sp>
      <p:sp>
        <p:nvSpPr>
          <p:cNvPr id="32" name="Text 29"/>
          <p:cNvSpPr/>
          <p:nvPr/>
        </p:nvSpPr>
        <p:spPr>
          <a:xfrm>
            <a:off x="6250781" y="2104532"/>
            <a:ext cx="2194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Stars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7936706" y="2074171"/>
            <a:ext cx="6000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58A6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124,775</a:t>
            </a:r>
            <a:endParaRPr lang="en-US" sz="1046" dirty="0"/>
          </a:p>
        </p:txBody>
      </p:sp>
      <p:sp>
        <p:nvSpPr>
          <p:cNvPr id="34" name="Text 31"/>
          <p:cNvSpPr/>
          <p:nvPr/>
        </p:nvSpPr>
        <p:spPr>
          <a:xfrm>
            <a:off x="6250781" y="2377780"/>
            <a:ext cx="2368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Forks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8108156" y="2347420"/>
            <a:ext cx="4286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58A6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7,426</a:t>
            </a:r>
            <a:endParaRPr lang="en-US" sz="1046" dirty="0"/>
          </a:p>
        </p:txBody>
      </p:sp>
      <p:sp>
        <p:nvSpPr>
          <p:cNvPr id="36" name="Text 33"/>
          <p:cNvSpPr/>
          <p:nvPr/>
        </p:nvSpPr>
        <p:spPr>
          <a:xfrm>
            <a:off x="6250781" y="2651029"/>
            <a:ext cx="5551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Contributors</a:t>
            </a:r>
            <a:endParaRPr lang="en-US" sz="680" dirty="0"/>
          </a:p>
        </p:txBody>
      </p:sp>
      <p:sp>
        <p:nvSpPr>
          <p:cNvPr id="37" name="Text 34"/>
          <p:cNvSpPr/>
          <p:nvPr/>
        </p:nvSpPr>
        <p:spPr>
          <a:xfrm>
            <a:off x="8279606" y="2620668"/>
            <a:ext cx="2571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58A6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414</a:t>
            </a:r>
            <a:endParaRPr lang="en-US" sz="1046" dirty="0"/>
          </a:p>
        </p:txBody>
      </p:sp>
      <p:sp>
        <p:nvSpPr>
          <p:cNvPr id="38" name="Shape 35"/>
          <p:cNvSpPr/>
          <p:nvPr/>
        </p:nvSpPr>
        <p:spPr>
          <a:xfrm>
            <a:off x="6250781" y="2936779"/>
            <a:ext cx="2286000" cy="6858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9" name="Text 36"/>
          <p:cNvSpPr/>
          <p:nvPr/>
        </p:nvSpPr>
        <p:spPr>
          <a:xfrm>
            <a:off x="6357938" y="3043935"/>
            <a:ext cx="20716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Maturity Score</a:t>
            </a:r>
            <a:endParaRPr lang="en-US" sz="628" dirty="0"/>
          </a:p>
        </p:txBody>
      </p:sp>
      <p:sp>
        <p:nvSpPr>
          <p:cNvPr id="40" name="Text 37"/>
          <p:cNvSpPr/>
          <p:nvPr/>
        </p:nvSpPr>
        <p:spPr>
          <a:xfrm>
            <a:off x="6357938" y="3202884"/>
            <a:ext cx="20716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94.03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428625" y="4051204"/>
            <a:ext cx="8286750" cy="1511573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07219" y="4229798"/>
            <a:ext cx="79295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Success Factors Across Elite Repositories</a:t>
            </a:r>
            <a:endParaRPr lang="en-US" sz="1046" dirty="0"/>
          </a:p>
        </p:txBody>
      </p:sp>
      <p:sp>
        <p:nvSpPr>
          <p:cNvPr id="43" name="Text 40"/>
          <p:cNvSpPr/>
          <p:nvPr/>
        </p:nvSpPr>
        <p:spPr>
          <a:xfrm>
            <a:off x="607219" y="4567340"/>
            <a:ext cx="187523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⭐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607219" y="4951316"/>
            <a:ext cx="18752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Visibility</a:t>
            </a:r>
            <a:endParaRPr lang="en-US" sz="732" dirty="0"/>
          </a:p>
        </p:txBody>
      </p:sp>
      <p:sp>
        <p:nvSpPr>
          <p:cNvPr id="45" name="Text 42"/>
          <p:cNvSpPr/>
          <p:nvPr/>
        </p:nvSpPr>
        <p:spPr>
          <a:xfrm>
            <a:off x="607219" y="5129910"/>
            <a:ext cx="187523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100K+ stars indicating strong community recognition and trust</a:t>
            </a:r>
            <a:endParaRPr lang="en-US" sz="628" dirty="0"/>
          </a:p>
        </p:txBody>
      </p:sp>
      <p:sp>
        <p:nvSpPr>
          <p:cNvPr id="46" name="Text 43"/>
          <p:cNvSpPr/>
          <p:nvPr/>
        </p:nvSpPr>
        <p:spPr>
          <a:xfrm>
            <a:off x="2625328" y="4567340"/>
            <a:ext cx="187523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👥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2625328" y="4951316"/>
            <a:ext cx="18752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Large Teams</a:t>
            </a:r>
            <a:endParaRPr lang="en-US" sz="732" dirty="0"/>
          </a:p>
        </p:txBody>
      </p:sp>
      <p:sp>
        <p:nvSpPr>
          <p:cNvPr id="48" name="Text 45"/>
          <p:cNvSpPr/>
          <p:nvPr/>
        </p:nvSpPr>
        <p:spPr>
          <a:xfrm>
            <a:off x="2625328" y="5129910"/>
            <a:ext cx="187523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300+ contributors showing collaborative development at scale</a:t>
            </a:r>
            <a:endParaRPr lang="en-US" sz="628" dirty="0"/>
          </a:p>
        </p:txBody>
      </p:sp>
      <p:sp>
        <p:nvSpPr>
          <p:cNvPr id="49" name="Text 46"/>
          <p:cNvSpPr/>
          <p:nvPr/>
        </p:nvSpPr>
        <p:spPr>
          <a:xfrm>
            <a:off x="4643438" y="4567340"/>
            <a:ext cx="187523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📋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4643438" y="4951316"/>
            <a:ext cx="18752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 Health</a:t>
            </a:r>
            <a:endParaRPr lang="en-US" sz="732" dirty="0"/>
          </a:p>
        </p:txBody>
      </p:sp>
      <p:sp>
        <p:nvSpPr>
          <p:cNvPr id="51" name="Text 48"/>
          <p:cNvSpPr/>
          <p:nvPr/>
        </p:nvSpPr>
        <p:spPr>
          <a:xfrm>
            <a:off x="4643438" y="5129910"/>
            <a:ext cx="187523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health indicators present: README, license, contributing, CoC</a:t>
            </a:r>
            <a:endParaRPr lang="en-US" sz="628" dirty="0"/>
          </a:p>
        </p:txBody>
      </p:sp>
      <p:sp>
        <p:nvSpPr>
          <p:cNvPr id="52" name="Text 49"/>
          <p:cNvSpPr/>
          <p:nvPr/>
        </p:nvSpPr>
        <p:spPr>
          <a:xfrm>
            <a:off x="6661547" y="4567340"/>
            <a:ext cx="187523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🚀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6661547" y="4951316"/>
            <a:ext cx="18752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Active Development</a:t>
            </a:r>
            <a:endParaRPr lang="en-US" sz="732" dirty="0"/>
          </a:p>
        </p:txBody>
      </p:sp>
      <p:sp>
        <p:nvSpPr>
          <p:cNvPr id="54" name="Text 51"/>
          <p:cNvSpPr/>
          <p:nvPr/>
        </p:nvSpPr>
        <p:spPr>
          <a:xfrm>
            <a:off x="6661547" y="5129910"/>
            <a:ext cx="187523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Sustained commit activity across all time windows with high velocity</a:t>
            </a:r>
            <a:endParaRPr lang="en-US" sz="62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275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Head-to-Head: TypeScript vs Rust - Metrics Comparison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692944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Comparing Top Two Languages Across Key Performance Indicators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285750" y="1066205"/>
            <a:ext cx="3893344" cy="4675584"/>
          </a:xfrm>
          <a:prstGeom prst="rect">
            <a:avLst/>
          </a:prstGeom>
          <a:solidFill>
            <a:srgbClr val="161B22"/>
          </a:solidFill>
          <a:ln w="397">
            <a:solidFill>
              <a:srgbClr val="3178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4344" y="1244798"/>
            <a:ext cx="353615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7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64344" y="1600200"/>
            <a:ext cx="35361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Type-Safe JavaScript for Modern Web Development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464344" y="1855589"/>
            <a:ext cx="35361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Overall Score</a:t>
            </a:r>
            <a:endParaRPr lang="en-US" sz="628" dirty="0"/>
          </a:p>
        </p:txBody>
      </p:sp>
      <p:sp>
        <p:nvSpPr>
          <p:cNvPr id="9" name="Text 6"/>
          <p:cNvSpPr/>
          <p:nvPr/>
        </p:nvSpPr>
        <p:spPr>
          <a:xfrm>
            <a:off x="464344" y="2000250"/>
            <a:ext cx="353615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463" b="1" dirty="0">
                <a:solidFill>
                  <a:srgbClr val="317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48.33</a:t>
            </a:r>
            <a:endParaRPr lang="en-US" sz="1463" dirty="0"/>
          </a:p>
        </p:txBody>
      </p:sp>
      <p:sp>
        <p:nvSpPr>
          <p:cNvPr id="10" name="Text 7"/>
          <p:cNvSpPr/>
          <p:nvPr/>
        </p:nvSpPr>
        <p:spPr>
          <a:xfrm>
            <a:off x="464344" y="2352080"/>
            <a:ext cx="35361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Score</a:t>
            </a:r>
            <a:endParaRPr lang="en-US" sz="628" dirty="0"/>
          </a:p>
        </p:txBody>
      </p:sp>
      <p:sp>
        <p:nvSpPr>
          <p:cNvPr id="11" name="Text 8"/>
          <p:cNvSpPr/>
          <p:nvPr/>
        </p:nvSpPr>
        <p:spPr>
          <a:xfrm>
            <a:off x="464344" y="2496741"/>
            <a:ext cx="353615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463" b="1" dirty="0">
                <a:solidFill>
                  <a:srgbClr val="317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69.44</a:t>
            </a:r>
            <a:endParaRPr lang="en-US" sz="1463" dirty="0"/>
          </a:p>
        </p:txBody>
      </p:sp>
      <p:sp>
        <p:nvSpPr>
          <p:cNvPr id="12" name="Text 9"/>
          <p:cNvSpPr/>
          <p:nvPr/>
        </p:nvSpPr>
        <p:spPr>
          <a:xfrm>
            <a:off x="464344" y="2848570"/>
            <a:ext cx="35361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Health Score</a:t>
            </a:r>
            <a:endParaRPr lang="en-US" sz="628" dirty="0"/>
          </a:p>
        </p:txBody>
      </p:sp>
      <p:sp>
        <p:nvSpPr>
          <p:cNvPr id="13" name="Text 10"/>
          <p:cNvSpPr/>
          <p:nvPr/>
        </p:nvSpPr>
        <p:spPr>
          <a:xfrm>
            <a:off x="464344" y="2993231"/>
            <a:ext cx="353615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463" b="1" dirty="0">
                <a:solidFill>
                  <a:srgbClr val="317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70.4</a:t>
            </a:r>
            <a:endParaRPr lang="en-US" sz="1463" dirty="0"/>
          </a:p>
        </p:txBody>
      </p:sp>
      <p:sp>
        <p:nvSpPr>
          <p:cNvPr id="14" name="Text 11"/>
          <p:cNvSpPr/>
          <p:nvPr/>
        </p:nvSpPr>
        <p:spPr>
          <a:xfrm>
            <a:off x="464344" y="3345061"/>
            <a:ext cx="35361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Avg Contributors</a:t>
            </a:r>
            <a:endParaRPr lang="en-US" sz="628" dirty="0"/>
          </a:p>
        </p:txBody>
      </p:sp>
      <p:sp>
        <p:nvSpPr>
          <p:cNvPr id="15" name="Text 12"/>
          <p:cNvSpPr/>
          <p:nvPr/>
        </p:nvSpPr>
        <p:spPr>
          <a:xfrm>
            <a:off x="464344" y="3489722"/>
            <a:ext cx="353615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463" b="1" dirty="0">
                <a:solidFill>
                  <a:srgbClr val="317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311</a:t>
            </a:r>
            <a:endParaRPr lang="en-US" sz="1463" dirty="0"/>
          </a:p>
        </p:txBody>
      </p:sp>
      <p:sp>
        <p:nvSpPr>
          <p:cNvPr id="16" name="Text 13"/>
          <p:cNvSpPr/>
          <p:nvPr/>
        </p:nvSpPr>
        <p:spPr>
          <a:xfrm>
            <a:off x="464344" y="3841552"/>
            <a:ext cx="35361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Avg Stars</a:t>
            </a:r>
            <a:endParaRPr lang="en-US" sz="628" dirty="0"/>
          </a:p>
        </p:txBody>
      </p:sp>
      <p:sp>
        <p:nvSpPr>
          <p:cNvPr id="17" name="Text 14"/>
          <p:cNvSpPr/>
          <p:nvPr/>
        </p:nvSpPr>
        <p:spPr>
          <a:xfrm>
            <a:off x="464344" y="3986213"/>
            <a:ext cx="353615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463" b="1" dirty="0">
                <a:solidFill>
                  <a:srgbClr val="317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68,602</a:t>
            </a:r>
            <a:endParaRPr lang="en-US" sz="1463" dirty="0"/>
          </a:p>
        </p:txBody>
      </p:sp>
      <p:sp>
        <p:nvSpPr>
          <p:cNvPr id="18" name="Text 15"/>
          <p:cNvSpPr/>
          <p:nvPr/>
        </p:nvSpPr>
        <p:spPr>
          <a:xfrm>
            <a:off x="464344" y="4552355"/>
            <a:ext cx="35361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Strengths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464344" y="4750594"/>
            <a:ext cx="3536156" cy="126802"/>
          </a:xfrm>
          <a:prstGeom prst="rect">
            <a:avLst/>
          </a:prstGeom>
          <a:noFill/>
          <a:ln/>
        </p:spPr>
        <p:txBody>
          <a:bodyPr wrap="none" lIns="119126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Highest activity score (69.4)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464344" y="4913114"/>
            <a:ext cx="3536156" cy="126802"/>
          </a:xfrm>
          <a:prstGeom prst="rect">
            <a:avLst/>
          </a:prstGeom>
          <a:noFill/>
          <a:ln/>
        </p:spPr>
        <p:txBody>
          <a:bodyPr wrap="none" lIns="119126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Most contributors (311 avg)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464344" y="5075634"/>
            <a:ext cx="3536156" cy="126802"/>
          </a:xfrm>
          <a:prstGeom prst="rect">
            <a:avLst/>
          </a:prstGeom>
          <a:noFill/>
          <a:ln/>
        </p:spPr>
        <p:txBody>
          <a:bodyPr wrap="none" lIns="119126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Strong enterprise adoption (40%)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464344" y="5238155"/>
            <a:ext cx="3536156" cy="126802"/>
          </a:xfrm>
          <a:prstGeom prst="rect">
            <a:avLst/>
          </a:prstGeom>
          <a:noFill/>
          <a:ln/>
        </p:spPr>
        <p:txBody>
          <a:bodyPr wrap="none" lIns="119126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Excellent health indicators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464344" y="5400675"/>
            <a:ext cx="3536156" cy="126802"/>
          </a:xfrm>
          <a:prstGeom prst="rect">
            <a:avLst/>
          </a:prstGeom>
          <a:noFill/>
          <a:ln/>
        </p:spPr>
        <p:txBody>
          <a:bodyPr wrap="none" lIns="119126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Web/frontend dominance</a:t>
            </a:r>
            <a:endParaRPr lang="en-US" sz="680" dirty="0"/>
          </a:p>
        </p:txBody>
      </p:sp>
      <p:sp>
        <p:nvSpPr>
          <p:cNvPr id="24" name="Shape 21"/>
          <p:cNvSpPr/>
          <p:nvPr/>
        </p:nvSpPr>
        <p:spPr>
          <a:xfrm>
            <a:off x="4321969" y="3153966"/>
            <a:ext cx="500063" cy="500063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25" name="Text 22"/>
          <p:cNvSpPr/>
          <p:nvPr/>
        </p:nvSpPr>
        <p:spPr>
          <a:xfrm>
            <a:off x="4321969" y="3153966"/>
            <a:ext cx="50006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VS</a:t>
            </a:r>
            <a:endParaRPr lang="en-US" sz="1575" dirty="0"/>
          </a:p>
        </p:txBody>
      </p:sp>
      <p:sp>
        <p:nvSpPr>
          <p:cNvPr id="26" name="Shape 23"/>
          <p:cNvSpPr/>
          <p:nvPr/>
        </p:nvSpPr>
        <p:spPr>
          <a:xfrm>
            <a:off x="4964906" y="1066205"/>
            <a:ext cx="3893344" cy="4675584"/>
          </a:xfrm>
          <a:prstGeom prst="rect">
            <a:avLst/>
          </a:prstGeom>
          <a:solidFill>
            <a:srgbClr val="161B22"/>
          </a:solidFill>
          <a:ln w="397">
            <a:solidFill>
              <a:srgbClr val="CE42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43500" y="1244798"/>
            <a:ext cx="353615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E4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143500" y="1600200"/>
            <a:ext cx="35361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Memory-Safe Systems Programming Language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5143500" y="1855589"/>
            <a:ext cx="35361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Overall Score</a:t>
            </a:r>
            <a:endParaRPr lang="en-US" sz="628" dirty="0"/>
          </a:p>
        </p:txBody>
      </p:sp>
      <p:sp>
        <p:nvSpPr>
          <p:cNvPr id="30" name="Text 27"/>
          <p:cNvSpPr/>
          <p:nvPr/>
        </p:nvSpPr>
        <p:spPr>
          <a:xfrm>
            <a:off x="5143500" y="2000250"/>
            <a:ext cx="353615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463" b="1" dirty="0">
                <a:solidFill>
                  <a:srgbClr val="CE4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49.4</a:t>
            </a:r>
            <a:endParaRPr lang="en-US" sz="1463" dirty="0"/>
          </a:p>
        </p:txBody>
      </p:sp>
      <p:sp>
        <p:nvSpPr>
          <p:cNvPr id="31" name="Text 28"/>
          <p:cNvSpPr/>
          <p:nvPr/>
        </p:nvSpPr>
        <p:spPr>
          <a:xfrm>
            <a:off x="5143500" y="2352080"/>
            <a:ext cx="35361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Score</a:t>
            </a:r>
            <a:endParaRPr lang="en-US" sz="628" dirty="0"/>
          </a:p>
        </p:txBody>
      </p:sp>
      <p:sp>
        <p:nvSpPr>
          <p:cNvPr id="32" name="Text 29"/>
          <p:cNvSpPr/>
          <p:nvPr/>
        </p:nvSpPr>
        <p:spPr>
          <a:xfrm>
            <a:off x="5143500" y="2496741"/>
            <a:ext cx="353615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463" b="1" dirty="0">
                <a:solidFill>
                  <a:srgbClr val="CE4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61.62</a:t>
            </a:r>
            <a:endParaRPr lang="en-US" sz="1463" dirty="0"/>
          </a:p>
        </p:txBody>
      </p:sp>
      <p:sp>
        <p:nvSpPr>
          <p:cNvPr id="33" name="Text 30"/>
          <p:cNvSpPr/>
          <p:nvPr/>
        </p:nvSpPr>
        <p:spPr>
          <a:xfrm>
            <a:off x="5143500" y="2848570"/>
            <a:ext cx="35361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Health Score</a:t>
            </a:r>
            <a:endParaRPr lang="en-US" sz="628" dirty="0"/>
          </a:p>
        </p:txBody>
      </p:sp>
      <p:sp>
        <p:nvSpPr>
          <p:cNvPr id="34" name="Text 31"/>
          <p:cNvSpPr/>
          <p:nvPr/>
        </p:nvSpPr>
        <p:spPr>
          <a:xfrm>
            <a:off x="5143500" y="2993231"/>
            <a:ext cx="353615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463" b="1" dirty="0">
                <a:solidFill>
                  <a:srgbClr val="CE4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68.0</a:t>
            </a:r>
            <a:endParaRPr lang="en-US" sz="1463" dirty="0"/>
          </a:p>
        </p:txBody>
      </p:sp>
      <p:sp>
        <p:nvSpPr>
          <p:cNvPr id="35" name="Text 32"/>
          <p:cNvSpPr/>
          <p:nvPr/>
        </p:nvSpPr>
        <p:spPr>
          <a:xfrm>
            <a:off x="5143500" y="3345061"/>
            <a:ext cx="35361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Avg Contributors</a:t>
            </a:r>
            <a:endParaRPr lang="en-US" sz="628" dirty="0"/>
          </a:p>
        </p:txBody>
      </p:sp>
      <p:sp>
        <p:nvSpPr>
          <p:cNvPr id="36" name="Text 33"/>
          <p:cNvSpPr/>
          <p:nvPr/>
        </p:nvSpPr>
        <p:spPr>
          <a:xfrm>
            <a:off x="5143500" y="3489722"/>
            <a:ext cx="353615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463" b="1" dirty="0">
                <a:solidFill>
                  <a:srgbClr val="CE4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258</a:t>
            </a:r>
            <a:endParaRPr lang="en-US" sz="1463" dirty="0"/>
          </a:p>
        </p:txBody>
      </p:sp>
      <p:sp>
        <p:nvSpPr>
          <p:cNvPr id="37" name="Text 34"/>
          <p:cNvSpPr/>
          <p:nvPr/>
        </p:nvSpPr>
        <p:spPr>
          <a:xfrm>
            <a:off x="5143500" y="3841552"/>
            <a:ext cx="35361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Avg Stars</a:t>
            </a:r>
            <a:endParaRPr lang="en-US" sz="628" dirty="0"/>
          </a:p>
        </p:txBody>
      </p:sp>
      <p:sp>
        <p:nvSpPr>
          <p:cNvPr id="38" name="Text 35"/>
          <p:cNvSpPr/>
          <p:nvPr/>
        </p:nvSpPr>
        <p:spPr>
          <a:xfrm>
            <a:off x="5143500" y="3986213"/>
            <a:ext cx="353615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463" b="1" dirty="0">
                <a:solidFill>
                  <a:srgbClr val="CE4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34,618</a:t>
            </a:r>
            <a:endParaRPr lang="en-US" sz="1463" dirty="0"/>
          </a:p>
        </p:txBody>
      </p:sp>
      <p:sp>
        <p:nvSpPr>
          <p:cNvPr id="39" name="Text 36"/>
          <p:cNvSpPr/>
          <p:nvPr/>
        </p:nvSpPr>
        <p:spPr>
          <a:xfrm>
            <a:off x="5143500" y="4516636"/>
            <a:ext cx="35361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Strengths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5143500" y="4714875"/>
            <a:ext cx="3536156" cy="126802"/>
          </a:xfrm>
          <a:prstGeom prst="rect">
            <a:avLst/>
          </a:prstGeom>
          <a:noFill/>
          <a:ln/>
        </p:spPr>
        <p:txBody>
          <a:bodyPr wrap="none" lIns="119126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Highest overall score (49.4)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5143500" y="4877395"/>
            <a:ext cx="3536156" cy="126802"/>
          </a:xfrm>
          <a:prstGeom prst="rect">
            <a:avLst/>
          </a:prstGeom>
          <a:noFill/>
          <a:ln/>
        </p:spPr>
        <p:txBody>
          <a:bodyPr wrap="none" lIns="119126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Strong growth signal (0.62)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5143500" y="5039916"/>
            <a:ext cx="3536156" cy="126802"/>
          </a:xfrm>
          <a:prstGeom prst="rect">
            <a:avLst/>
          </a:prstGeom>
          <a:noFill/>
          <a:ln/>
        </p:spPr>
        <p:txBody>
          <a:bodyPr wrap="none" lIns="119126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Systems programming excellence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5143500" y="5202436"/>
            <a:ext cx="3536156" cy="126802"/>
          </a:xfrm>
          <a:prstGeom prst="rect">
            <a:avLst/>
          </a:prstGeom>
          <a:noFill/>
          <a:ln/>
        </p:spPr>
        <p:txBody>
          <a:bodyPr wrap="none" lIns="119126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Memory safety guarantees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>
            <a:off x="5143500" y="5364956"/>
            <a:ext cx="3536156" cy="126802"/>
          </a:xfrm>
          <a:prstGeom prst="rect">
            <a:avLst/>
          </a:prstGeom>
          <a:noFill/>
          <a:ln/>
        </p:spPr>
        <p:txBody>
          <a:bodyPr wrap="none" lIns="119126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technical quality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367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Positioning &amp; Use Cases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707231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Choosing the Right Language for Your Project Requirements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285750" y="1080492"/>
            <a:ext cx="4214813" cy="2129144"/>
          </a:xfrm>
          <a:prstGeom prst="rect">
            <a:avLst/>
          </a:prstGeom>
          <a:solidFill>
            <a:srgbClr val="161B22"/>
          </a:solidFill>
          <a:ln w="397">
            <a:solidFill>
              <a:srgbClr val="3178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28625" y="1223367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17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 Excels At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28625" y="1543050"/>
            <a:ext cx="3929063" cy="45789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5"/>
          <p:cNvSpPr/>
          <p:nvPr/>
        </p:nvSpPr>
        <p:spPr>
          <a:xfrm>
            <a:off x="500063" y="1614488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Applications &amp; Frontend Frameworks</a:t>
            </a:r>
            <a:endParaRPr lang="en-US" sz="785" dirty="0"/>
          </a:p>
        </p:txBody>
      </p:sp>
      <p:sp>
        <p:nvSpPr>
          <p:cNvPr id="9" name="Text 6"/>
          <p:cNvSpPr/>
          <p:nvPr/>
        </p:nvSpPr>
        <p:spPr>
          <a:xfrm>
            <a:off x="500063" y="1789509"/>
            <a:ext cx="37861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React, Angular, Vue.js ecosystems with type safety and IDE support</a:t>
            </a:r>
            <a:endParaRPr lang="en-US" sz="732" dirty="0"/>
          </a:p>
        </p:txBody>
      </p:sp>
      <p:sp>
        <p:nvSpPr>
          <p:cNvPr id="10" name="Shape 7"/>
          <p:cNvSpPr/>
          <p:nvPr/>
        </p:nvSpPr>
        <p:spPr>
          <a:xfrm>
            <a:off x="428625" y="2058098"/>
            <a:ext cx="3929063" cy="45789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" name="Text 8"/>
          <p:cNvSpPr/>
          <p:nvPr/>
        </p:nvSpPr>
        <p:spPr>
          <a:xfrm>
            <a:off x="500063" y="2129535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Large-Scale Collaborative Projects</a:t>
            </a:r>
            <a:endParaRPr lang="en-US" sz="785" dirty="0"/>
          </a:p>
        </p:txBody>
      </p:sp>
      <p:sp>
        <p:nvSpPr>
          <p:cNvPr id="12" name="Text 9"/>
          <p:cNvSpPr/>
          <p:nvPr/>
        </p:nvSpPr>
        <p:spPr>
          <a:xfrm>
            <a:off x="500063" y="2304557"/>
            <a:ext cx="37861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311 avg contributors, highest activity score enables team coordination</a:t>
            </a:r>
            <a:endParaRPr lang="en-US" sz="732" dirty="0"/>
          </a:p>
        </p:txBody>
      </p:sp>
      <p:sp>
        <p:nvSpPr>
          <p:cNvPr id="13" name="Shape 10"/>
          <p:cNvSpPr/>
          <p:nvPr/>
        </p:nvSpPr>
        <p:spPr>
          <a:xfrm>
            <a:off x="428625" y="2573145"/>
            <a:ext cx="3929063" cy="45789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4" name="Text 11"/>
          <p:cNvSpPr/>
          <p:nvPr/>
        </p:nvSpPr>
        <p:spPr>
          <a:xfrm>
            <a:off x="500063" y="2644583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 Adoption</a:t>
            </a:r>
            <a:endParaRPr lang="en-US" sz="785" dirty="0"/>
          </a:p>
        </p:txBody>
      </p:sp>
      <p:sp>
        <p:nvSpPr>
          <p:cNvPr id="15" name="Text 12"/>
          <p:cNvSpPr/>
          <p:nvPr/>
        </p:nvSpPr>
        <p:spPr>
          <a:xfrm>
            <a:off x="500063" y="2819605"/>
            <a:ext cx="37861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40% enterprise-ready rate, strong compliance and governance</a:t>
            </a:r>
            <a:endParaRPr lang="en-US" sz="732" dirty="0"/>
          </a:p>
        </p:txBody>
      </p:sp>
      <p:sp>
        <p:nvSpPr>
          <p:cNvPr id="16" name="Shape 13"/>
          <p:cNvSpPr/>
          <p:nvPr/>
        </p:nvSpPr>
        <p:spPr>
          <a:xfrm>
            <a:off x="4643438" y="1080492"/>
            <a:ext cx="4214813" cy="2129144"/>
          </a:xfrm>
          <a:prstGeom prst="rect">
            <a:avLst/>
          </a:prstGeom>
          <a:solidFill>
            <a:srgbClr val="161B22"/>
          </a:solidFill>
          <a:ln w="397">
            <a:solidFill>
              <a:srgbClr val="CE42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86313" y="1223367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E4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 Excels At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786313" y="1543050"/>
            <a:ext cx="3929063" cy="45789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9" name="Text 16"/>
          <p:cNvSpPr/>
          <p:nvPr/>
        </p:nvSpPr>
        <p:spPr>
          <a:xfrm>
            <a:off x="4857750" y="1614488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Systems Programming</a:t>
            </a:r>
            <a:endParaRPr lang="en-US" sz="785" dirty="0"/>
          </a:p>
        </p:txBody>
      </p:sp>
      <p:sp>
        <p:nvSpPr>
          <p:cNvPr id="20" name="Text 17"/>
          <p:cNvSpPr/>
          <p:nvPr/>
        </p:nvSpPr>
        <p:spPr>
          <a:xfrm>
            <a:off x="4857750" y="1789509"/>
            <a:ext cx="37861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Memory safety without garbage collection, zero-cost abstractions</a:t>
            </a:r>
            <a:endParaRPr lang="en-US" sz="732" dirty="0"/>
          </a:p>
        </p:txBody>
      </p:sp>
      <p:sp>
        <p:nvSpPr>
          <p:cNvPr id="21" name="Shape 18"/>
          <p:cNvSpPr/>
          <p:nvPr/>
        </p:nvSpPr>
        <p:spPr>
          <a:xfrm>
            <a:off x="4786313" y="2058098"/>
            <a:ext cx="3929063" cy="45789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2" name="Text 19"/>
          <p:cNvSpPr/>
          <p:nvPr/>
        </p:nvSpPr>
        <p:spPr>
          <a:xfrm>
            <a:off x="4857750" y="2129535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Performance-Critical Applications</a:t>
            </a:r>
            <a:endParaRPr lang="en-US" sz="785" dirty="0"/>
          </a:p>
        </p:txBody>
      </p:sp>
      <p:sp>
        <p:nvSpPr>
          <p:cNvPr id="23" name="Text 20"/>
          <p:cNvSpPr/>
          <p:nvPr/>
        </p:nvSpPr>
        <p:spPr>
          <a:xfrm>
            <a:off x="4857750" y="2304557"/>
            <a:ext cx="37861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WebAssembly, game engines, embedded systems requiring speed</a:t>
            </a:r>
            <a:endParaRPr lang="en-US" sz="732" dirty="0"/>
          </a:p>
        </p:txBody>
      </p:sp>
      <p:sp>
        <p:nvSpPr>
          <p:cNvPr id="24" name="Shape 21"/>
          <p:cNvSpPr/>
          <p:nvPr/>
        </p:nvSpPr>
        <p:spPr>
          <a:xfrm>
            <a:off x="4786313" y="2573145"/>
            <a:ext cx="3929063" cy="45789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5" name="Text 22"/>
          <p:cNvSpPr/>
          <p:nvPr/>
        </p:nvSpPr>
        <p:spPr>
          <a:xfrm>
            <a:off x="4857750" y="2644583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Technical Quality</a:t>
            </a:r>
            <a:endParaRPr lang="en-US" sz="785" dirty="0"/>
          </a:p>
        </p:txBody>
      </p:sp>
      <p:sp>
        <p:nvSpPr>
          <p:cNvPr id="26" name="Text 23"/>
          <p:cNvSpPr/>
          <p:nvPr/>
        </p:nvSpPr>
        <p:spPr>
          <a:xfrm>
            <a:off x="4857750" y="2819605"/>
            <a:ext cx="37861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Highest overall score (49.4), strong growth signal (0.62)</a:t>
            </a:r>
            <a:endParaRPr lang="en-US" sz="732" dirty="0"/>
          </a:p>
        </p:txBody>
      </p:sp>
      <p:sp>
        <p:nvSpPr>
          <p:cNvPr id="27" name="Shape 24"/>
          <p:cNvSpPr/>
          <p:nvPr/>
        </p:nvSpPr>
        <p:spPr>
          <a:xfrm>
            <a:off x="285750" y="3316793"/>
            <a:ext cx="4214813" cy="955477"/>
          </a:xfrm>
          <a:prstGeom prst="rect">
            <a:avLst/>
          </a:prstGeom>
          <a:solidFill>
            <a:srgbClr val="161B22"/>
          </a:solidFill>
          <a:ln w="397">
            <a:solidFill>
              <a:srgbClr val="3FB9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4338" y="3445380"/>
            <a:ext cx="39576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 Readiness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414338" y="3702555"/>
            <a:ext cx="5113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</a:t>
            </a:r>
            <a:endParaRPr lang="en-US" sz="732" dirty="0"/>
          </a:p>
        </p:txBody>
      </p:sp>
      <p:sp>
        <p:nvSpPr>
          <p:cNvPr id="30" name="Shape 27"/>
          <p:cNvSpPr/>
          <p:nvPr/>
        </p:nvSpPr>
        <p:spPr>
          <a:xfrm>
            <a:off x="1032858" y="3741846"/>
            <a:ext cx="3001575" cy="5715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1" name="Shape 28"/>
          <p:cNvSpPr/>
          <p:nvPr/>
        </p:nvSpPr>
        <p:spPr>
          <a:xfrm>
            <a:off x="1032858" y="3741846"/>
            <a:ext cx="3001575" cy="57150"/>
          </a:xfrm>
          <a:prstGeom prst="rect">
            <a:avLst/>
          </a:prstGeom>
          <a:solidFill>
            <a:srgbClr val="3178C6"/>
          </a:solidFill>
          <a:ln/>
        </p:spPr>
      </p:sp>
      <p:sp>
        <p:nvSpPr>
          <p:cNvPr id="32" name="Text 29"/>
          <p:cNvSpPr/>
          <p:nvPr/>
        </p:nvSpPr>
        <p:spPr>
          <a:xfrm>
            <a:off x="4141589" y="3686482"/>
            <a:ext cx="23038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3178C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40%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414338" y="3956159"/>
            <a:ext cx="2184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</a:t>
            </a:r>
            <a:endParaRPr lang="en-US" sz="732" dirty="0"/>
          </a:p>
        </p:txBody>
      </p:sp>
      <p:sp>
        <p:nvSpPr>
          <p:cNvPr id="34" name="Shape 31"/>
          <p:cNvSpPr/>
          <p:nvPr/>
        </p:nvSpPr>
        <p:spPr>
          <a:xfrm>
            <a:off x="739936" y="3995449"/>
            <a:ext cx="3294497" cy="5715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5" name="Shape 32"/>
          <p:cNvSpPr/>
          <p:nvPr/>
        </p:nvSpPr>
        <p:spPr>
          <a:xfrm>
            <a:off x="739936" y="3995449"/>
            <a:ext cx="2717946" cy="57150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36" name="Text 33"/>
          <p:cNvSpPr/>
          <p:nvPr/>
        </p:nvSpPr>
        <p:spPr>
          <a:xfrm>
            <a:off x="4141589" y="3940085"/>
            <a:ext cx="23038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CE422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33%</a:t>
            </a:r>
            <a:endParaRPr lang="en-US" sz="942" dirty="0"/>
          </a:p>
        </p:txBody>
      </p:sp>
      <p:sp>
        <p:nvSpPr>
          <p:cNvPr id="37" name="Shape 34"/>
          <p:cNvSpPr/>
          <p:nvPr/>
        </p:nvSpPr>
        <p:spPr>
          <a:xfrm>
            <a:off x="4643438" y="3316793"/>
            <a:ext cx="4214813" cy="955477"/>
          </a:xfrm>
          <a:prstGeom prst="rect">
            <a:avLst/>
          </a:prstGeom>
          <a:solidFill>
            <a:srgbClr val="161B22"/>
          </a:solidFill>
          <a:ln w="397">
            <a:solidFill>
              <a:srgbClr val="BC8C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72025" y="3445380"/>
            <a:ext cx="39576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Growth Signal</a:t>
            </a:r>
            <a:endParaRPr lang="en-US" sz="837" dirty="0"/>
          </a:p>
        </p:txBody>
      </p:sp>
      <p:sp>
        <p:nvSpPr>
          <p:cNvPr id="39" name="Text 36"/>
          <p:cNvSpPr/>
          <p:nvPr/>
        </p:nvSpPr>
        <p:spPr>
          <a:xfrm>
            <a:off x="4772025" y="3702555"/>
            <a:ext cx="5113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</a:t>
            </a:r>
            <a:endParaRPr lang="en-US" sz="732" dirty="0"/>
          </a:p>
        </p:txBody>
      </p:sp>
      <p:sp>
        <p:nvSpPr>
          <p:cNvPr id="40" name="Shape 37"/>
          <p:cNvSpPr/>
          <p:nvPr/>
        </p:nvSpPr>
        <p:spPr>
          <a:xfrm>
            <a:off x="5390545" y="3741846"/>
            <a:ext cx="2924780" cy="5715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1" name="Shape 38"/>
          <p:cNvSpPr/>
          <p:nvPr/>
        </p:nvSpPr>
        <p:spPr>
          <a:xfrm>
            <a:off x="5390545" y="3741846"/>
            <a:ext cx="2687864" cy="57150"/>
          </a:xfrm>
          <a:prstGeom prst="rect">
            <a:avLst/>
          </a:prstGeom>
          <a:solidFill>
            <a:srgbClr val="3178C6"/>
          </a:solidFill>
          <a:ln/>
        </p:spPr>
      </p:sp>
      <p:sp>
        <p:nvSpPr>
          <p:cNvPr id="42" name="Text 39"/>
          <p:cNvSpPr/>
          <p:nvPr/>
        </p:nvSpPr>
        <p:spPr>
          <a:xfrm>
            <a:off x="8422481" y="3686482"/>
            <a:ext cx="30718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3178C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0.57</a:t>
            </a:r>
            <a:endParaRPr lang="en-US" sz="942" dirty="0"/>
          </a:p>
        </p:txBody>
      </p:sp>
      <p:sp>
        <p:nvSpPr>
          <p:cNvPr id="43" name="Text 40"/>
          <p:cNvSpPr/>
          <p:nvPr/>
        </p:nvSpPr>
        <p:spPr>
          <a:xfrm>
            <a:off x="4772025" y="3956159"/>
            <a:ext cx="2184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</a:t>
            </a:r>
            <a:endParaRPr lang="en-US" sz="732" dirty="0"/>
          </a:p>
        </p:txBody>
      </p:sp>
      <p:sp>
        <p:nvSpPr>
          <p:cNvPr id="44" name="Shape 41"/>
          <p:cNvSpPr/>
          <p:nvPr/>
        </p:nvSpPr>
        <p:spPr>
          <a:xfrm>
            <a:off x="5097624" y="3995449"/>
            <a:ext cx="3217701" cy="5715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5" name="Shape 42"/>
          <p:cNvSpPr/>
          <p:nvPr/>
        </p:nvSpPr>
        <p:spPr>
          <a:xfrm>
            <a:off x="5097624" y="3995449"/>
            <a:ext cx="3217701" cy="57150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46" name="Text 43"/>
          <p:cNvSpPr/>
          <p:nvPr/>
        </p:nvSpPr>
        <p:spPr>
          <a:xfrm>
            <a:off x="8422481" y="3940085"/>
            <a:ext cx="30718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CE422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0.62</a:t>
            </a:r>
            <a:endParaRPr lang="en-US" sz="942" dirty="0"/>
          </a:p>
        </p:txBody>
      </p:sp>
      <p:sp>
        <p:nvSpPr>
          <p:cNvPr id="47" name="Shape 44"/>
          <p:cNvSpPr/>
          <p:nvPr/>
        </p:nvSpPr>
        <p:spPr>
          <a:xfrm>
            <a:off x="285750" y="4379426"/>
            <a:ext cx="8572500" cy="1400175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14338" y="4508013"/>
            <a:ext cx="83153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When to Choose Each Language</a:t>
            </a:r>
            <a:endParaRPr lang="en-US" sz="942" dirty="0"/>
          </a:p>
        </p:txBody>
      </p:sp>
      <p:sp>
        <p:nvSpPr>
          <p:cNvPr id="49" name="Shape 46"/>
          <p:cNvSpPr/>
          <p:nvPr/>
        </p:nvSpPr>
        <p:spPr>
          <a:xfrm>
            <a:off x="414338" y="4768760"/>
            <a:ext cx="4086225" cy="86796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0" name="Shape 47"/>
          <p:cNvSpPr/>
          <p:nvPr/>
        </p:nvSpPr>
        <p:spPr>
          <a:xfrm>
            <a:off x="414338" y="4768760"/>
            <a:ext cx="28575" cy="867966"/>
          </a:xfrm>
          <a:prstGeom prst="rect">
            <a:avLst/>
          </a:prstGeom>
          <a:solidFill>
            <a:srgbClr val="3178C6"/>
          </a:solidFill>
          <a:ln/>
        </p:spPr>
      </p:sp>
      <p:sp>
        <p:nvSpPr>
          <p:cNvPr id="51" name="Text 48"/>
          <p:cNvSpPr/>
          <p:nvPr/>
        </p:nvSpPr>
        <p:spPr>
          <a:xfrm>
            <a:off x="521494" y="4875916"/>
            <a:ext cx="38719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317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Choose TypeScript When:</a:t>
            </a:r>
            <a:endParaRPr lang="en-US" sz="785" dirty="0"/>
          </a:p>
        </p:txBody>
      </p:sp>
      <p:sp>
        <p:nvSpPr>
          <p:cNvPr id="52" name="Text 49"/>
          <p:cNvSpPr/>
          <p:nvPr/>
        </p:nvSpPr>
        <p:spPr>
          <a:xfrm>
            <a:off x="521494" y="5079513"/>
            <a:ext cx="387191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Building web-first applications, need rapid development with large teams, require extensive library ecosystem, prioritize developer experience and tooling, or targeting enterprise environments with compliance requirements</a:t>
            </a:r>
            <a:endParaRPr lang="en-US" sz="732" dirty="0"/>
          </a:p>
        </p:txBody>
      </p:sp>
      <p:sp>
        <p:nvSpPr>
          <p:cNvPr id="53" name="Shape 50"/>
          <p:cNvSpPr/>
          <p:nvPr/>
        </p:nvSpPr>
        <p:spPr>
          <a:xfrm>
            <a:off x="4643438" y="4768760"/>
            <a:ext cx="4086225" cy="86796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4" name="Shape 51"/>
          <p:cNvSpPr/>
          <p:nvPr/>
        </p:nvSpPr>
        <p:spPr>
          <a:xfrm>
            <a:off x="4643438" y="4768760"/>
            <a:ext cx="28575" cy="867966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55" name="Text 52"/>
          <p:cNvSpPr/>
          <p:nvPr/>
        </p:nvSpPr>
        <p:spPr>
          <a:xfrm>
            <a:off x="4750594" y="4875916"/>
            <a:ext cx="38719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CE4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Choose Rust When:</a:t>
            </a:r>
            <a:endParaRPr lang="en-US" sz="785" dirty="0"/>
          </a:p>
        </p:txBody>
      </p:sp>
      <p:sp>
        <p:nvSpPr>
          <p:cNvPr id="56" name="Text 53"/>
          <p:cNvSpPr/>
          <p:nvPr/>
        </p:nvSpPr>
        <p:spPr>
          <a:xfrm>
            <a:off x="4750594" y="5079513"/>
            <a:ext cx="387191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Building systems-level software, need maximum performance and memory safety, developing for embedded or resource-constrained environments, creating WebAssembly modules, or require fine-grained control over system resources</a:t>
            </a:r>
            <a:endParaRPr lang="en-US" sz="73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Insights &amp; Findings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850106"/>
            <a:ext cx="8286750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Data-Driven Discoveries Reveal Clear Patterns in Language Ecosystem Success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428625" y="1517321"/>
            <a:ext cx="4000500" cy="3091793"/>
          </a:xfrm>
          <a:prstGeom prst="rect">
            <a:avLst/>
          </a:prstGeom>
          <a:solidFill>
            <a:srgbClr val="161B22"/>
          </a:solidFill>
          <a:ln w="496">
            <a:solidFill>
              <a:srgbClr val="3FB9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4375" y="1803071"/>
            <a:ext cx="34290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3FB9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714375" y="2331709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Languages Dominate Rankings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714375" y="2653178"/>
            <a:ext cx="3429000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Rust, TypeScript, and Go emerge as top-tier languages with balanced strength across popularity, activity, and health dimensions, outperforming traditional languages by 10-15 points on average.</a:t>
            </a:r>
            <a:endParaRPr lang="en-US" sz="889" dirty="0"/>
          </a:p>
        </p:txBody>
      </p:sp>
      <p:sp>
        <p:nvSpPr>
          <p:cNvPr id="9" name="Shape 6"/>
          <p:cNvSpPr/>
          <p:nvPr/>
        </p:nvSpPr>
        <p:spPr>
          <a:xfrm>
            <a:off x="714375" y="3816158"/>
            <a:ext cx="3429000" cy="50720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7"/>
          <p:cNvSpPr/>
          <p:nvPr/>
        </p:nvSpPr>
        <p:spPr>
          <a:xfrm>
            <a:off x="821531" y="3923314"/>
            <a:ext cx="224687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3: Rust (49.4), TypeScript (48.3), Go (46.9)</a:t>
            </a:r>
            <a:endParaRPr lang="en-US" sz="785" dirty="0"/>
          </a:p>
        </p:txBody>
      </p:sp>
      <p:sp>
        <p:nvSpPr>
          <p:cNvPr id="11" name="Text 8"/>
          <p:cNvSpPr/>
          <p:nvPr/>
        </p:nvSpPr>
        <p:spPr>
          <a:xfrm>
            <a:off x="821531" y="4069761"/>
            <a:ext cx="177463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vs Traditional: C# (36.8), Swift (37.4)</a:t>
            </a:r>
            <a:endParaRPr lang="en-US" sz="785" dirty="0"/>
          </a:p>
        </p:txBody>
      </p:sp>
      <p:sp>
        <p:nvSpPr>
          <p:cNvPr id="12" name="Shape 9"/>
          <p:cNvSpPr/>
          <p:nvPr/>
        </p:nvSpPr>
        <p:spPr>
          <a:xfrm>
            <a:off x="4714875" y="1517321"/>
            <a:ext cx="4000500" cy="3091793"/>
          </a:xfrm>
          <a:prstGeom prst="rect">
            <a:avLst/>
          </a:prstGeom>
          <a:solidFill>
            <a:srgbClr val="161B22"/>
          </a:solidFill>
          <a:ln w="496">
            <a:solidFill>
              <a:srgbClr val="58A6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00625" y="1824503"/>
            <a:ext cx="34290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3150" dirty="0"/>
          </a:p>
        </p:txBody>
      </p:sp>
      <p:sp>
        <p:nvSpPr>
          <p:cNvPr id="14" name="Text 11"/>
          <p:cNvSpPr/>
          <p:nvPr/>
        </p:nvSpPr>
        <p:spPr>
          <a:xfrm>
            <a:off x="5000625" y="2353140"/>
            <a:ext cx="342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Predicts Success Better Than Popularity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5000625" y="2888921"/>
            <a:ext cx="3429000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metrics (commits, contributors) demonstrate strongest correlation with overall success (r=0.85), emphasizing importance of sustained development over initial star count.</a:t>
            </a:r>
            <a:endParaRPr lang="en-US" sz="889" dirty="0"/>
          </a:p>
        </p:txBody>
      </p:sp>
      <p:sp>
        <p:nvSpPr>
          <p:cNvPr id="16" name="Shape 13"/>
          <p:cNvSpPr/>
          <p:nvPr/>
        </p:nvSpPr>
        <p:spPr>
          <a:xfrm>
            <a:off x="5000625" y="3794727"/>
            <a:ext cx="3429000" cy="50720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7" name="Text 14"/>
          <p:cNvSpPr/>
          <p:nvPr/>
        </p:nvSpPr>
        <p:spPr>
          <a:xfrm>
            <a:off x="5107781" y="3901883"/>
            <a:ext cx="15971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Activity-Overall: r=0.85 (R²=0.72)</a:t>
            </a:r>
            <a:endParaRPr lang="en-US" sz="785" dirty="0"/>
          </a:p>
        </p:txBody>
      </p:sp>
      <p:sp>
        <p:nvSpPr>
          <p:cNvPr id="18" name="Text 15"/>
          <p:cNvSpPr/>
          <p:nvPr/>
        </p:nvSpPr>
        <p:spPr>
          <a:xfrm>
            <a:off x="5107781" y="4048330"/>
            <a:ext cx="17503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Popularity-Overall: r=0.57 (R²=0.33)</a:t>
            </a:r>
            <a:endParaRPr lang="en-US" sz="78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694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Insights &amp; Findings - Part 2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850106"/>
            <a:ext cx="8286750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Data-Driven Discoveries Reveal Clear Patterns in Language Ecosystem Success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428625" y="1375870"/>
            <a:ext cx="4036219" cy="2554895"/>
          </a:xfrm>
          <a:prstGeom prst="rect">
            <a:avLst/>
          </a:prstGeom>
          <a:solidFill>
            <a:srgbClr val="161B22"/>
          </a:solidFill>
          <a:ln w="496">
            <a:solidFill>
              <a:srgbClr val="BC8C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8656" y="1625901"/>
            <a:ext cx="35361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BC8C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78656" y="2075957"/>
            <a:ext cx="35361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Health Indicators Drive Community Trust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678656" y="2356349"/>
            <a:ext cx="3536156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Health indicators (license, contributing guidelines, CoC) significantly impact repository success, with each adding 11-13 points to overall scores and fostering professional project management.</a:t>
            </a:r>
            <a:endParaRPr lang="en-US" sz="837" dirty="0"/>
          </a:p>
        </p:txBody>
      </p:sp>
      <p:sp>
        <p:nvSpPr>
          <p:cNvPr id="9" name="Shape 6"/>
          <p:cNvSpPr/>
          <p:nvPr/>
        </p:nvSpPr>
        <p:spPr>
          <a:xfrm>
            <a:off x="678656" y="3237821"/>
            <a:ext cx="3536156" cy="442913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7"/>
          <p:cNvSpPr/>
          <p:nvPr/>
        </p:nvSpPr>
        <p:spPr>
          <a:xfrm>
            <a:off x="764381" y="3323546"/>
            <a:ext cx="19506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License impact: +11.88 points (p &lt; 0.0001)</a:t>
            </a:r>
            <a:endParaRPr lang="en-US" sz="732" dirty="0"/>
          </a:p>
        </p:txBody>
      </p:sp>
      <p:sp>
        <p:nvSpPr>
          <p:cNvPr id="11" name="Text 8"/>
          <p:cNvSpPr/>
          <p:nvPr/>
        </p:nvSpPr>
        <p:spPr>
          <a:xfrm>
            <a:off x="764381" y="3459277"/>
            <a:ext cx="16978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Contributing/CoC: +12.7 points each</a:t>
            </a:r>
            <a:endParaRPr lang="en-US" sz="732" dirty="0"/>
          </a:p>
        </p:txBody>
      </p:sp>
      <p:sp>
        <p:nvSpPr>
          <p:cNvPr id="12" name="Shape 9"/>
          <p:cNvSpPr/>
          <p:nvPr/>
        </p:nvSpPr>
        <p:spPr>
          <a:xfrm>
            <a:off x="4679156" y="1375870"/>
            <a:ext cx="4036219" cy="2554895"/>
          </a:xfrm>
          <a:prstGeom prst="rect">
            <a:avLst/>
          </a:prstGeom>
          <a:solidFill>
            <a:srgbClr val="161B22"/>
          </a:solidFill>
          <a:ln w="496">
            <a:solidFill>
              <a:srgbClr val="F088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29188" y="1625901"/>
            <a:ext cx="35361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4929188" y="2075957"/>
            <a:ext cx="35361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Popularity vs TypeScript Engagement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4929188" y="2356349"/>
            <a:ext cx="3536156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maintains dominance in absolute popularity (7.8M total stars) reflecting broad adoption, while TypeScript shows highest per-repository engagement (68,602 avg stars) indicating concentrated quality.</a:t>
            </a:r>
            <a:endParaRPr lang="en-US" sz="837" dirty="0"/>
          </a:p>
        </p:txBody>
      </p:sp>
      <p:sp>
        <p:nvSpPr>
          <p:cNvPr id="16" name="Shape 13"/>
          <p:cNvSpPr/>
          <p:nvPr/>
        </p:nvSpPr>
        <p:spPr>
          <a:xfrm>
            <a:off x="4929188" y="3194958"/>
            <a:ext cx="3536156" cy="442913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7" name="Text 14"/>
          <p:cNvSpPr/>
          <p:nvPr/>
        </p:nvSpPr>
        <p:spPr>
          <a:xfrm>
            <a:off x="5014913" y="3280683"/>
            <a:ext cx="19802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Python: 78,107 avg stars, 227 contributors</a:t>
            </a:r>
            <a:endParaRPr lang="en-US" sz="732" dirty="0"/>
          </a:p>
        </p:txBody>
      </p:sp>
      <p:sp>
        <p:nvSpPr>
          <p:cNvPr id="18" name="Text 15"/>
          <p:cNvSpPr/>
          <p:nvPr/>
        </p:nvSpPr>
        <p:spPr>
          <a:xfrm>
            <a:off x="5014913" y="3416415"/>
            <a:ext cx="21386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TypeScript: 68,602 avg stars, 311 contributors</a:t>
            </a:r>
            <a:endParaRPr lang="en-US" sz="732" dirty="0"/>
          </a:p>
        </p:txBody>
      </p:sp>
      <p:sp>
        <p:nvSpPr>
          <p:cNvPr id="19" name="Shape 16"/>
          <p:cNvSpPr/>
          <p:nvPr/>
        </p:nvSpPr>
        <p:spPr>
          <a:xfrm>
            <a:off x="428625" y="4137933"/>
            <a:ext cx="8286750" cy="1060066"/>
          </a:xfrm>
          <a:prstGeom prst="rect">
            <a:avLst/>
          </a:prstGeom>
          <a:solidFill>
            <a:srgbClr val="0D1117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280" y="4366533"/>
            <a:ext cx="17749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Statistical analysis confirms 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2444195" y="4366533"/>
            <a:ext cx="3142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significant differences between language groups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5586245" y="4366533"/>
            <a:ext cx="2888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validating ecosystem-level variations beyond 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765191" y="4572251"/>
            <a:ext cx="30664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individual project quality. These insights provide 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3831645" y="4572251"/>
            <a:ext cx="34516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actionable guidance for developers and organizations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7283332" y="4572251"/>
            <a:ext cx="10954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making strategic 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3895799" y="4777969"/>
            <a:ext cx="13523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technology decisions. </a:t>
            </a:r>
            <a:endParaRPr lang="en-US" sz="94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034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Recommendations for Language Selection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850106"/>
            <a:ext cx="8286750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Data-Driven Guidance for Technology Investment Decisions Based on Use Case Requirements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428625" y="1411588"/>
            <a:ext cx="4018359" cy="1906600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8656" y="1661620"/>
            <a:ext cx="35182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17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&amp; Frontend Development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678656" y="1942012"/>
            <a:ext cx="351829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3178C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 + JavaScript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678656" y="2322416"/>
            <a:ext cx="3518297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Choose TypeScript for large-scale web applications requiring type safety and enterprise-grade tooling. Highest activity score (69.4) and contributor engagement (311 avg) ensure robust ecosystem support.</a:t>
            </a:r>
            <a:endParaRPr lang="en-US" sz="837" dirty="0"/>
          </a:p>
        </p:txBody>
      </p:sp>
      <p:sp>
        <p:nvSpPr>
          <p:cNvPr id="9" name="Shape 6"/>
          <p:cNvSpPr/>
          <p:nvPr/>
        </p:nvSpPr>
        <p:spPr>
          <a:xfrm>
            <a:off x="4697016" y="1411588"/>
            <a:ext cx="4018359" cy="1906600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47047" y="1661620"/>
            <a:ext cx="35182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CE4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Systems &amp; Performance-Critical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4947047" y="1942012"/>
            <a:ext cx="351829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CE4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 + C++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4947047" y="2322416"/>
            <a:ext cx="3518297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Rust for memory-safe systems programming with modern tooling. Top overall score (49.4) and strong growth signal (0.62) indicate sustained innovation. C++ remains viable for legacy integration.</a:t>
            </a:r>
            <a:endParaRPr lang="en-US" sz="837" dirty="0"/>
          </a:p>
        </p:txBody>
      </p:sp>
      <p:sp>
        <p:nvSpPr>
          <p:cNvPr id="13" name="Shape 10"/>
          <p:cNvSpPr/>
          <p:nvPr/>
        </p:nvSpPr>
        <p:spPr>
          <a:xfrm>
            <a:off x="428625" y="3553932"/>
            <a:ext cx="4018359" cy="1906600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8656" y="3803963"/>
            <a:ext cx="35182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AD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Cloud &amp; Backend Services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678656" y="4084355"/>
            <a:ext cx="351829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00AD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 + Python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678656" y="4464760"/>
            <a:ext cx="3518297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 excels in microservices and cloud infrastructure with balanced metrics (46.9 overall). Python dominates data science and ML with highest popularity (78K avg stars) and broad library support.</a:t>
            </a:r>
            <a:endParaRPr lang="en-US" sz="837" dirty="0"/>
          </a:p>
        </p:txBody>
      </p:sp>
      <p:sp>
        <p:nvSpPr>
          <p:cNvPr id="17" name="Shape 14"/>
          <p:cNvSpPr/>
          <p:nvPr/>
        </p:nvSpPr>
        <p:spPr>
          <a:xfrm>
            <a:off x="4697016" y="3553932"/>
            <a:ext cx="4018359" cy="1906600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47047" y="3803963"/>
            <a:ext cx="35182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391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 Applications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4947047" y="4084355"/>
            <a:ext cx="351829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2391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 + C#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4947047" y="4464760"/>
            <a:ext cx="3518297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 leads enterprise readiness (40%) with superior compliance scores. C# offers strong Microsoft ecosystem integration. Both demonstrate excellent health indicators and professional governance.</a:t>
            </a:r>
            <a:endParaRPr lang="en-US" sz="837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713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 Trends &amp; Conclusions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850106"/>
            <a:ext cx="8286750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Predictions and Strategic Guidance for the Evolving Language Ecosystem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428625" y="1411588"/>
            <a:ext cx="8286750" cy="2210991"/>
          </a:xfrm>
          <a:prstGeom prst="rect">
            <a:avLst/>
          </a:prstGeom>
          <a:solidFill>
            <a:srgbClr val="161B22"/>
          </a:solidFill>
          <a:ln w="99">
            <a:solidFill>
              <a:srgbClr val="2126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8656" y="1661620"/>
            <a:ext cx="7786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 Trends &amp; Predictions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78656" y="2074171"/>
            <a:ext cx="2452678" cy="1284089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5"/>
          <p:cNvSpPr/>
          <p:nvPr/>
        </p:nvSpPr>
        <p:spPr>
          <a:xfrm>
            <a:off x="857250" y="2252765"/>
            <a:ext cx="2095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Rising Stars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857250" y="2493866"/>
            <a:ext cx="20954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 and TypeScript will continue rapid growth, driven by memory safety demands and web platform evolution</a:t>
            </a:r>
            <a:endParaRPr lang="en-US" sz="837" dirty="0"/>
          </a:p>
        </p:txBody>
      </p:sp>
      <p:sp>
        <p:nvSpPr>
          <p:cNvPr id="10" name="Shape 7"/>
          <p:cNvSpPr/>
          <p:nvPr/>
        </p:nvSpPr>
        <p:spPr>
          <a:xfrm>
            <a:off x="3345647" y="2074171"/>
            <a:ext cx="2452678" cy="1284089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" name="Text 8"/>
          <p:cNvSpPr/>
          <p:nvPr/>
        </p:nvSpPr>
        <p:spPr>
          <a:xfrm>
            <a:off x="3524241" y="2252765"/>
            <a:ext cx="2095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Ecosystem Maturation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3524241" y="2493866"/>
            <a:ext cx="20954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Health indicators becoming standard requirements as open source projects adopt enterprise governance practices</a:t>
            </a:r>
            <a:endParaRPr lang="en-US" sz="837" dirty="0"/>
          </a:p>
        </p:txBody>
      </p:sp>
      <p:sp>
        <p:nvSpPr>
          <p:cNvPr id="13" name="Shape 10"/>
          <p:cNvSpPr/>
          <p:nvPr/>
        </p:nvSpPr>
        <p:spPr>
          <a:xfrm>
            <a:off x="6012638" y="2074171"/>
            <a:ext cx="2452706" cy="1284089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4" name="Text 11"/>
          <p:cNvSpPr/>
          <p:nvPr/>
        </p:nvSpPr>
        <p:spPr>
          <a:xfrm>
            <a:off x="6191231" y="2252765"/>
            <a:ext cx="20955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58A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Over Popularity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6191231" y="2493866"/>
            <a:ext cx="20955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Organizations increasingly prioritize active development and contributor engagement over historical star counts</a:t>
            </a:r>
            <a:endParaRPr lang="en-US" sz="837" dirty="0"/>
          </a:p>
        </p:txBody>
      </p:sp>
      <p:sp>
        <p:nvSpPr>
          <p:cNvPr id="16" name="Shape 13"/>
          <p:cNvSpPr/>
          <p:nvPr/>
        </p:nvSpPr>
        <p:spPr>
          <a:xfrm>
            <a:off x="428625" y="3894041"/>
            <a:ext cx="8286750" cy="1534427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4"/>
          <p:cNvSpPr/>
          <p:nvPr/>
        </p:nvSpPr>
        <p:spPr>
          <a:xfrm>
            <a:off x="750094" y="4215510"/>
            <a:ext cx="7643813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6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Leverage data-driven insights to make informed technology decisions. Choose languages based on empirical evidence of ecosystem health, community engagement, and sustained development activity. </a:t>
            </a:r>
            <a:endParaRPr lang="en-US" sz="14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2025-10-24T17:00:31Z</dcterms:created>
  <dcterms:modified xsi:type="dcterms:W3CDTF">2025-10-24T17:00:31Z</dcterms:modified>
</cp:coreProperties>
</file>